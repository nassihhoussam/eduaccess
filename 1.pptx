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30199" autoAdjust="0"/>
  </p:normalViewPr>
  <p:slideViewPr>
    <p:cSldViewPr snapToGrid="0" snapToObjects="1">
      <p:cViewPr varScale="1">
        <p:scale>
          <a:sx n="11" d="100"/>
          <a:sy n="11" d="100"/>
        </p:scale>
        <p:origin x="724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7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9992" y="1097280"/>
            <a:ext cx="10931712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5400" dirty="0"/>
              <a:t>🎓 </a:t>
            </a:r>
            <a:r>
              <a:rPr sz="5400" dirty="0" err="1"/>
              <a:t>EduAccess</a:t>
            </a:r>
            <a:endParaRPr sz="5400" dirty="0"/>
          </a:p>
          <a:p>
            <a:pPr algn="ctr">
              <a:defRPr sz="2200" b="1">
                <a:solidFill>
                  <a:srgbClr val="60A5FA"/>
                </a:solidFill>
              </a:defRPr>
            </a:pPr>
            <a:r>
              <a:rPr sz="2800" dirty="0"/>
              <a:t>Système Intelligent de </a:t>
            </a:r>
            <a:r>
              <a:rPr sz="2800" dirty="0" err="1"/>
              <a:t>Détection</a:t>
            </a:r>
            <a:r>
              <a:rPr sz="2800" dirty="0"/>
              <a:t> </a:t>
            </a:r>
            <a:r>
              <a:rPr sz="2800" dirty="0" err="1"/>
              <a:t>Précoce</a:t>
            </a:r>
            <a:r>
              <a:rPr sz="2800" dirty="0"/>
              <a:t> des </a:t>
            </a:r>
            <a:r>
              <a:rPr sz="2800" dirty="0" err="1"/>
              <a:t>Difficultés</a:t>
            </a:r>
            <a:r>
              <a:rPr sz="2800" dirty="0"/>
              <a:t> </a:t>
            </a:r>
            <a:r>
              <a:rPr sz="2800" dirty="0" err="1"/>
              <a:t>d'Apprentissage</a:t>
            </a:r>
            <a:endParaRPr sz="2800" dirty="0"/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rPr dirty="0" err="1"/>
              <a:t>Projet</a:t>
            </a:r>
            <a:r>
              <a:rPr dirty="0"/>
              <a:t> 1 — Module Développement &amp; </a:t>
            </a:r>
            <a:r>
              <a:rPr dirty="0" err="1"/>
              <a:t>Déploiement</a:t>
            </a:r>
            <a:r>
              <a:rPr dirty="0"/>
              <a:t> </a:t>
            </a:r>
            <a:r>
              <a:rPr dirty="0" err="1"/>
              <a:t>d'Applications</a:t>
            </a:r>
            <a:r>
              <a:rPr dirty="0"/>
              <a:t> </a:t>
            </a:r>
            <a:r>
              <a:rPr dirty="0" err="1"/>
              <a:t>Intelligentes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9448495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rPr sz="2000" dirty="0"/>
              <a:t>Équipe de </a:t>
            </a:r>
            <a:r>
              <a:rPr sz="2000" dirty="0" err="1"/>
              <a:t>Réalisation</a:t>
            </a:r>
            <a:r>
              <a:rPr sz="2000" dirty="0"/>
              <a:t> — EMSI 5IA&amp;DATA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rPr sz="2000" b="1" dirty="0"/>
              <a:t>• </a:t>
            </a:r>
            <a:r>
              <a:rPr lang="en-US" sz="2000" b="1" dirty="0"/>
              <a:t>Houssam </a:t>
            </a:r>
            <a:r>
              <a:rPr lang="en-US" sz="2000" b="1" dirty="0" err="1"/>
              <a:t>Nassih</a:t>
            </a:r>
            <a:r>
              <a:rPr lang="en-US" sz="2000" b="1" dirty="0"/>
              <a:t> </a:t>
            </a:r>
            <a:r>
              <a:rPr sz="2000" b="1" dirty="0"/>
              <a:t>: </a:t>
            </a:r>
            <a:r>
              <a:rPr sz="2000" b="1" dirty="0" err="1"/>
              <a:t>Cadrage</a:t>
            </a:r>
            <a:r>
              <a:rPr sz="2000" b="1" dirty="0"/>
              <a:t> Métier, </a:t>
            </a:r>
            <a:r>
              <a:rPr sz="2000" b="1" dirty="0" err="1"/>
              <a:t>Problématique</a:t>
            </a:r>
            <a:r>
              <a:rPr sz="2000" b="1" dirty="0"/>
              <a:t> &amp; </a:t>
            </a:r>
            <a:r>
              <a:rPr sz="2000" b="1" dirty="0" err="1"/>
              <a:t>Éthique</a:t>
            </a:r>
            <a:endParaRPr sz="2000" b="1" dirty="0"/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rPr sz="2000" b="1" dirty="0"/>
              <a:t>• </a:t>
            </a:r>
            <a:r>
              <a:rPr lang="en-US" sz="2000" b="1" dirty="0"/>
              <a:t>Anas </a:t>
            </a:r>
            <a:r>
              <a:rPr lang="en-US" sz="2000" b="1" dirty="0" err="1"/>
              <a:t>Nassih</a:t>
            </a:r>
            <a:r>
              <a:rPr lang="en-US" sz="2000" b="1" dirty="0"/>
              <a:t> </a:t>
            </a:r>
            <a:r>
              <a:rPr sz="2000" b="1" dirty="0"/>
              <a:t>: Data Engineering, Ingestion OULAD (10.6M) &amp; Feature Engineering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rPr sz="2000" b="1" dirty="0"/>
              <a:t>• </a:t>
            </a:r>
            <a:r>
              <a:rPr lang="en-US" sz="2000" b="1" dirty="0"/>
              <a:t>Reddad Chaouay </a:t>
            </a:r>
            <a:r>
              <a:rPr sz="2000" b="1" dirty="0"/>
              <a:t>: Machine Learning, </a:t>
            </a:r>
            <a:r>
              <a:rPr sz="2000" b="1" dirty="0" err="1"/>
              <a:t>Comparaison</a:t>
            </a:r>
            <a:r>
              <a:rPr sz="2000" b="1" dirty="0"/>
              <a:t> des </a:t>
            </a:r>
            <a:r>
              <a:rPr sz="2000" b="1" dirty="0" err="1"/>
              <a:t>Modèles</a:t>
            </a:r>
            <a:r>
              <a:rPr sz="2000" b="1" dirty="0"/>
              <a:t> &amp; </a:t>
            </a:r>
            <a:r>
              <a:rPr sz="2000" b="1" dirty="0" err="1"/>
              <a:t>Interprétabilité</a:t>
            </a:r>
            <a:endParaRPr sz="2000" b="1" dirty="0"/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rPr sz="2000" b="1" dirty="0"/>
              <a:t>• </a:t>
            </a:r>
            <a:r>
              <a:rPr lang="en-US" sz="2000" b="1" dirty="0"/>
              <a:t>Saad </a:t>
            </a:r>
            <a:r>
              <a:rPr lang="en-US" sz="2000" b="1" dirty="0" err="1"/>
              <a:t>Rakba</a:t>
            </a:r>
            <a:r>
              <a:rPr sz="2000" b="1" dirty="0"/>
              <a:t>: Architecture Système &amp; Développement API </a:t>
            </a:r>
            <a:r>
              <a:rPr sz="2000" b="1" dirty="0" err="1"/>
              <a:t>FastAPI</a:t>
            </a:r>
            <a:endParaRPr sz="2000" b="1" dirty="0"/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</a:defRPr>
            </a:pPr>
            <a:r>
              <a:rPr sz="2000" b="1" dirty="0"/>
              <a:t>• </a:t>
            </a:r>
            <a:r>
              <a:rPr lang="en-US" sz="2000" b="1" dirty="0"/>
              <a:t>Amine Qamah</a:t>
            </a:r>
            <a:r>
              <a:rPr sz="2000" b="1" dirty="0"/>
              <a:t> : Frontend </a:t>
            </a:r>
            <a:r>
              <a:rPr sz="2000" b="1" dirty="0" err="1"/>
              <a:t>Streamlit</a:t>
            </a:r>
            <a:r>
              <a:rPr sz="2000" b="1" dirty="0"/>
              <a:t>, Tests </a:t>
            </a:r>
            <a:r>
              <a:rPr sz="2000" b="1" dirty="0" err="1"/>
              <a:t>Pytest</a:t>
            </a:r>
            <a:r>
              <a:rPr sz="2000" b="1" dirty="0"/>
              <a:t> &amp; </a:t>
            </a:r>
            <a:r>
              <a:rPr sz="2000" b="1" dirty="0" err="1"/>
              <a:t>Déploiement</a:t>
            </a:r>
            <a:r>
              <a:rPr sz="2000" b="1" dirty="0"/>
              <a:t>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219456" y="148188"/>
            <a:ext cx="101803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3200" dirty="0"/>
              <a:t>1. </a:t>
            </a:r>
            <a:r>
              <a:rPr sz="3200" dirty="0" err="1"/>
              <a:t>Contexte</a:t>
            </a:r>
            <a:r>
              <a:rPr sz="3200" dirty="0"/>
              <a:t> Métier &amp; </a:t>
            </a:r>
            <a:r>
              <a:rPr sz="3200" dirty="0" err="1"/>
              <a:t>Problématique</a:t>
            </a:r>
            <a:r>
              <a:rPr sz="3200" dirty="0"/>
              <a:t> </a:t>
            </a:r>
            <a:r>
              <a:rPr sz="3200" dirty="0" err="1"/>
              <a:t>Académique</a:t>
            </a:r>
            <a:endParaRPr sz="32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050" dirty="0"/>
              <a:t>🎓 </a:t>
            </a:r>
            <a:r>
              <a:rPr sz="1050" dirty="0" err="1"/>
              <a:t>EduAccess</a:t>
            </a:r>
            <a:r>
              <a:rPr sz="1050" dirty="0"/>
              <a:t> — </a:t>
            </a:r>
            <a:r>
              <a:rPr sz="1050" dirty="0" err="1"/>
              <a:t>Cadrage</a:t>
            </a:r>
            <a:r>
              <a:rPr sz="1050" dirty="0"/>
              <a:t> Métier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29344" y="178035"/>
            <a:ext cx="29260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Houssam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200" dirty="0" err="1"/>
              <a:t>Cadrage</a:t>
            </a:r>
            <a:r>
              <a:rPr sz="1200" dirty="0"/>
              <a:t> Métier &amp;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 dirty="0"/>
              <a:t>⚠️ Constat &amp; </a:t>
            </a:r>
            <a:r>
              <a:rPr sz="1400" dirty="0" err="1"/>
              <a:t>Défis</a:t>
            </a:r>
            <a:r>
              <a:rPr sz="1400" dirty="0"/>
              <a:t> </a:t>
            </a:r>
            <a:r>
              <a:rPr sz="1400" dirty="0" err="1"/>
              <a:t>Actuels</a:t>
            </a:r>
            <a:endParaRPr sz="14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Le </a:t>
            </a:r>
            <a:r>
              <a:rPr sz="1400" dirty="0" err="1"/>
              <a:t>décrochage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enseignement</a:t>
            </a:r>
            <a:r>
              <a:rPr sz="1400" dirty="0"/>
              <a:t> supérieur (surtout à distance / e-learning) </a:t>
            </a:r>
            <a:r>
              <a:rPr sz="1400" dirty="0" err="1"/>
              <a:t>dépasse</a:t>
            </a:r>
            <a:r>
              <a:rPr sz="1400" dirty="0"/>
              <a:t> </a:t>
            </a:r>
            <a:r>
              <a:rPr sz="1400" dirty="0" err="1"/>
              <a:t>souvent</a:t>
            </a:r>
            <a:r>
              <a:rPr sz="1400" dirty="0"/>
              <a:t> 35% à 45%.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Détection</a:t>
            </a:r>
            <a:r>
              <a:rPr sz="1400" dirty="0"/>
              <a:t> trop tardive : les </a:t>
            </a:r>
            <a:r>
              <a:rPr sz="1400" dirty="0" err="1"/>
              <a:t>universités</a:t>
            </a:r>
            <a:r>
              <a:rPr sz="1400" dirty="0"/>
              <a:t> ne </a:t>
            </a:r>
            <a:r>
              <a:rPr sz="1400" dirty="0" err="1"/>
              <a:t>découvrent</a:t>
            </a:r>
            <a:r>
              <a:rPr sz="1400" dirty="0"/>
              <a:t> </a:t>
            </a:r>
            <a:r>
              <a:rPr sz="1400" dirty="0" err="1"/>
              <a:t>l'échec</a:t>
            </a:r>
            <a:r>
              <a:rPr sz="1400" dirty="0"/>
              <a:t> </a:t>
            </a:r>
            <a:r>
              <a:rPr sz="1400" dirty="0" err="1"/>
              <a:t>qu'après</a:t>
            </a:r>
            <a:r>
              <a:rPr sz="1400" dirty="0"/>
              <a:t> les examens </a:t>
            </a:r>
            <a:r>
              <a:rPr sz="1400" dirty="0" err="1"/>
              <a:t>finaux</a:t>
            </a:r>
            <a:r>
              <a:rPr sz="1400" dirty="0"/>
              <a:t> de </a:t>
            </a:r>
            <a:r>
              <a:rPr sz="1400" dirty="0" err="1"/>
              <a:t>semestre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Conséquence</a:t>
            </a:r>
            <a:r>
              <a:rPr sz="1400" dirty="0"/>
              <a:t> : </a:t>
            </a:r>
            <a:r>
              <a:rPr sz="1400" dirty="0" err="1"/>
              <a:t>impossibilité</a:t>
            </a:r>
            <a:r>
              <a:rPr sz="1400" dirty="0"/>
              <a:t> </a:t>
            </a:r>
            <a:r>
              <a:rPr sz="1400" dirty="0" err="1"/>
              <a:t>d'agir</a:t>
            </a:r>
            <a:r>
              <a:rPr sz="1400" dirty="0"/>
              <a:t> à temps pour </a:t>
            </a:r>
            <a:r>
              <a:rPr sz="1400" dirty="0" err="1"/>
              <a:t>sauver</a:t>
            </a:r>
            <a:r>
              <a:rPr sz="1400" dirty="0"/>
              <a:t> le </a:t>
            </a:r>
            <a:r>
              <a:rPr sz="1400" dirty="0" err="1"/>
              <a:t>parcours</a:t>
            </a:r>
            <a:r>
              <a:rPr sz="1400" dirty="0"/>
              <a:t> </a:t>
            </a:r>
            <a:r>
              <a:rPr sz="1400" dirty="0" err="1"/>
              <a:t>académique</a:t>
            </a:r>
            <a:r>
              <a:rPr sz="1400" dirty="0"/>
              <a:t> de </a:t>
            </a:r>
            <a:r>
              <a:rPr sz="1400" dirty="0" err="1"/>
              <a:t>l'étudiant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Coût</a:t>
            </a:r>
            <a:r>
              <a:rPr sz="1400" dirty="0"/>
              <a:t> </a:t>
            </a:r>
            <a:r>
              <a:rPr sz="1400" dirty="0" err="1"/>
              <a:t>humain</a:t>
            </a:r>
            <a:r>
              <a:rPr sz="1400" dirty="0"/>
              <a:t> et financier </a:t>
            </a:r>
            <a:r>
              <a:rPr sz="1400" dirty="0" err="1"/>
              <a:t>élevé</a:t>
            </a:r>
            <a:r>
              <a:rPr sz="1400" dirty="0"/>
              <a:t> pour les </a:t>
            </a:r>
            <a:r>
              <a:rPr sz="1400" dirty="0" err="1"/>
              <a:t>étudiants</a:t>
            </a:r>
            <a:r>
              <a:rPr sz="1400" dirty="0"/>
              <a:t> et les institutions </a:t>
            </a:r>
            <a:r>
              <a:rPr sz="1400" dirty="0" err="1"/>
              <a:t>d'enseignement</a:t>
            </a:r>
            <a:r>
              <a:rPr sz="14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🎯 Objectifs Clés d'EduAccess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Exploiter les traces d'apprentissage dès les 30 à 60 premiers jours du semestre.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Prédire précocement les signaux faibles d'abandon ou d'échec académique.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Générer automatiquement des plans d'accompagnement individualisés (tutorat, calendrier).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Transformer une gestion réactive de l'échec en une stratégie préventive et proactive.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3200" dirty="0"/>
              <a:t>2. Cadre </a:t>
            </a:r>
            <a:r>
              <a:rPr sz="3200" dirty="0" err="1"/>
              <a:t>Éthique</a:t>
            </a:r>
            <a:r>
              <a:rPr sz="3200" dirty="0"/>
              <a:t>, </a:t>
            </a:r>
            <a:r>
              <a:rPr sz="3200" dirty="0" err="1"/>
              <a:t>Législation</a:t>
            </a:r>
            <a:r>
              <a:rPr sz="3200" dirty="0"/>
              <a:t> &amp; </a:t>
            </a:r>
            <a:r>
              <a:rPr sz="3200" dirty="0" err="1"/>
              <a:t>Règle</a:t>
            </a:r>
            <a:r>
              <a:rPr sz="3200" dirty="0"/>
              <a:t> d'Or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 dirty="0"/>
              <a:t>🎓 </a:t>
            </a:r>
            <a:r>
              <a:rPr sz="1600" dirty="0" err="1"/>
              <a:t>EduAccess</a:t>
            </a:r>
            <a:r>
              <a:rPr sz="1600" dirty="0"/>
              <a:t> — </a:t>
            </a:r>
            <a:r>
              <a:rPr sz="1600" dirty="0" err="1"/>
              <a:t>Éthique</a:t>
            </a:r>
            <a:r>
              <a:rPr sz="1600" dirty="0"/>
              <a:t> de </a:t>
            </a:r>
            <a:r>
              <a:rPr sz="1600" dirty="0" err="1"/>
              <a:t>l'IA</a:t>
            </a: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Houssam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 err="1"/>
              <a:t>Cadrage</a:t>
            </a:r>
            <a:r>
              <a:rPr sz="1400" dirty="0"/>
              <a:t> Métier &amp;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⚖️ Règle Fondamentale du Projet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Outil d'Aide à la Décision STRICTEMENT bienveillant : en aucun cas un système d'exclusion ou de sanction.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L'alerte déclenche TOUJOURS une offre de soutien (cours de soutien, tutorat, remédiation méthodologique).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L'humain (tuteur, professeur, conseiller) garde le dernier mot sur toute recommandation algorithmique.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Conformité avec les principes européens d'IA éthique et la protection des données (RGPD).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🛡️ Transparence &amp; Explicabilité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Pas d'effet 'boîte noire' : le modèle indique exactement pourquoi une alerte est émise.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Indicateurs lisibles pour l'enseignant : chute d'activité VLE, premier devoir raté, retard de soumission.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Droit à la contestation pour l'étudiant.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Auditabilité complète des prédictions et conservation des versions du modèle.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3. Données OULAD : Structure &amp; </a:t>
            </a:r>
            <a:r>
              <a:rPr sz="2800" dirty="0" err="1"/>
              <a:t>Volumétrie</a:t>
            </a:r>
            <a:endParaRPr sz="28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</a:t>
            </a:r>
            <a:r>
              <a:rPr dirty="0"/>
              <a:t>Data</a:t>
            </a:r>
            <a:r>
              <a:rPr sz="1400" dirty="0"/>
              <a:t>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Anas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Data Engineer &amp; ETL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349535" y="13513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 dirty="0"/>
              <a:t>📊 Description du Jeu de Données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Source : Open University Learning Analytics Dataset (OULAD).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32 593 </a:t>
            </a:r>
            <a:r>
              <a:rPr sz="1400" dirty="0" err="1"/>
              <a:t>étudiants</a:t>
            </a:r>
            <a:r>
              <a:rPr sz="1400" dirty="0"/>
              <a:t> uniques </a:t>
            </a:r>
            <a:r>
              <a:rPr sz="1400" dirty="0" err="1"/>
              <a:t>inscrits</a:t>
            </a:r>
            <a:r>
              <a:rPr sz="1400" dirty="0"/>
              <a:t> sur 7 modules (AAA à GGG) et 22 sessions.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173 912 notes et </a:t>
            </a:r>
            <a:r>
              <a:rPr sz="1400" dirty="0" err="1"/>
              <a:t>évaluations</a:t>
            </a:r>
            <a:r>
              <a:rPr sz="1400" dirty="0"/>
              <a:t> continues (TMA, CMA, examens </a:t>
            </a:r>
            <a:r>
              <a:rPr sz="1400" dirty="0" err="1"/>
              <a:t>finaux</a:t>
            </a:r>
            <a:r>
              <a:rPr sz="1400" dirty="0"/>
              <a:t>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453 Mo de traces </a:t>
            </a:r>
            <a:r>
              <a:rPr sz="1400" dirty="0" err="1"/>
              <a:t>d'activité</a:t>
            </a:r>
            <a:r>
              <a:rPr sz="1400" dirty="0"/>
              <a:t> </a:t>
            </a:r>
            <a:r>
              <a:rPr sz="1400" dirty="0" err="1"/>
              <a:t>quotidienne</a:t>
            </a:r>
            <a:r>
              <a:rPr sz="1400" dirty="0"/>
              <a:t> VLE (Virtual Learning Environment).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10 645 280 </a:t>
            </a:r>
            <a:r>
              <a:rPr sz="1400" dirty="0" err="1"/>
              <a:t>lignes</a:t>
            </a:r>
            <a:r>
              <a:rPr sz="1400" dirty="0"/>
              <a:t> de </a:t>
            </a:r>
            <a:r>
              <a:rPr sz="1400" dirty="0" err="1"/>
              <a:t>clics</a:t>
            </a:r>
            <a:r>
              <a:rPr sz="1400" dirty="0"/>
              <a:t> </a:t>
            </a:r>
            <a:r>
              <a:rPr sz="1400" dirty="0" err="1"/>
              <a:t>enregistrés</a:t>
            </a:r>
            <a:r>
              <a:rPr sz="1400" dirty="0"/>
              <a:t> dans studentVle.csv.</a:t>
            </a:r>
          </a:p>
        </p:txBody>
      </p:sp>
      <p:pic>
        <p:nvPicPr>
          <p:cNvPr id="7" name="Picture 6" descr="data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43" y="2271868"/>
            <a:ext cx="6636385" cy="28958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3200" dirty="0"/>
              <a:t>4. Architecture ETL &amp; </a:t>
            </a:r>
            <a:r>
              <a:rPr sz="3200" dirty="0" err="1"/>
              <a:t>Traitement</a:t>
            </a:r>
            <a:r>
              <a:rPr sz="3200" dirty="0"/>
              <a:t> Big Data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 dirty="0"/>
              <a:t>🎓 </a:t>
            </a:r>
            <a:r>
              <a:rPr sz="1600" dirty="0" err="1"/>
              <a:t>EduAccess</a:t>
            </a:r>
            <a:r>
              <a:rPr sz="1600" dirty="0"/>
              <a:t> — Data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Anas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Data Engineer &amp; ETL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⚡ Traitement Optimisé par Morceaux (Chunking)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Problème : Charger 10.6M de lignes en mémoire brute sature la RAM et ralentit le pipeline.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Solution mise en place : Lecture par chunks de 1 000 000 de lignes avec Pandas.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Agrégation matricielle immédiate des clics par étudiant et par fenêtre temporelle.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Temps d'exécution total réduit à moins de 6 secondes sur machine standard !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Consolidation finale dans un dataset propre de 32 593 lignes et 26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🔄 Consolidation &amp; Pipeline ETL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Jointure relationnelle des 7 tables (étudiants, cours, évaluations, VLE).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Nettoyage des valeurs manquantes (imputation ciblée par médiane ou catégorie 'Unknown').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Génération de métadonnées de schéma dans data/feature_metadata.json.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Script reproductible : python run_project.py prepare.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400" dirty="0"/>
              <a:t>5. Feature Engineering </a:t>
            </a:r>
            <a:r>
              <a:rPr sz="2400" dirty="0" err="1"/>
              <a:t>Précoce</a:t>
            </a:r>
            <a:r>
              <a:rPr sz="2400" dirty="0"/>
              <a:t> &amp; </a:t>
            </a:r>
            <a:r>
              <a:rPr sz="2400" dirty="0" err="1"/>
              <a:t>Règle</a:t>
            </a:r>
            <a:r>
              <a:rPr sz="2400" dirty="0"/>
              <a:t> Anti-Leakage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200" dirty="0"/>
              <a:t>🎓 </a:t>
            </a:r>
            <a:r>
              <a:rPr sz="1200" dirty="0" err="1"/>
              <a:t>EduAccess</a:t>
            </a:r>
            <a:r>
              <a:rPr sz="1200" dirty="0"/>
              <a:t> — Data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Anas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Data Engineer &amp; ETL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🎯 Features Précoces (J+30 à J+60)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pre_course_clicks : Clics effectués avant le démarrage officiel du cours (curiosité et motivation).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early_30_clicks : Somme des clics dans les 30 premiers jours (engagement initial).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active_days : Nombre de jours distincts avec au moins une connexion.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early_assessments_count &amp; early_avg_score : Nombre et moyenne des premières évaluations.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early_late_submissions : Devoirs soumis en retard dans le premier mois.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🚫 Prévention Stricte du Data Leakage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Règle d'or : Exclusion TOTALE de la colonne date_unregistration.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Justification : Si date_unregistration existe, le modèle sait à 100% que l'étudiant a abandonné -&gt; fuite critique de cible !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Normalisation Scikit-Learn : StandardScaler pour les variables numériques, OneHotEncoder pour les catégorielles.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Cible binaire équilibrée (is_at_risk) : 52.8% Risque vs 47.2% Réussite.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6. </a:t>
            </a:r>
            <a:r>
              <a:rPr sz="2800" dirty="0" err="1"/>
              <a:t>Modélisation</a:t>
            </a:r>
            <a:r>
              <a:rPr sz="2800" dirty="0"/>
              <a:t> ML &amp; Protocole de Validation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Reddad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ML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 dirty="0"/>
              <a:t>🧠 Formulation du </a:t>
            </a:r>
            <a:r>
              <a:rPr sz="1400" dirty="0" err="1"/>
              <a:t>Problème</a:t>
            </a:r>
            <a:r>
              <a:rPr sz="1400" dirty="0"/>
              <a:t> &amp; </a:t>
            </a:r>
            <a:r>
              <a:rPr sz="1400" dirty="0" err="1"/>
              <a:t>Algorithmes</a:t>
            </a:r>
            <a:endParaRPr sz="14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Classification </a:t>
            </a:r>
            <a:r>
              <a:rPr sz="1400" dirty="0" err="1"/>
              <a:t>supervisée</a:t>
            </a:r>
            <a:r>
              <a:rPr sz="1400" dirty="0"/>
              <a:t> </a:t>
            </a:r>
            <a:r>
              <a:rPr sz="1400" dirty="0" err="1"/>
              <a:t>binaire</a:t>
            </a:r>
            <a:r>
              <a:rPr sz="1400" dirty="0"/>
              <a:t> : </a:t>
            </a:r>
            <a:r>
              <a:rPr sz="1400" dirty="0" err="1"/>
              <a:t>prédire</a:t>
            </a:r>
            <a:r>
              <a:rPr sz="1400" dirty="0"/>
              <a:t> </a:t>
            </a:r>
            <a:r>
              <a:rPr sz="1400" dirty="0" err="1"/>
              <a:t>is_at_risk</a:t>
            </a:r>
            <a:r>
              <a:rPr sz="1400" dirty="0"/>
              <a:t> (0: </a:t>
            </a:r>
            <a:r>
              <a:rPr sz="1400" dirty="0" err="1"/>
              <a:t>Réussite</a:t>
            </a:r>
            <a:r>
              <a:rPr sz="1400" dirty="0"/>
              <a:t>, 1: Risque).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Trois </a:t>
            </a:r>
            <a:r>
              <a:rPr sz="1400" dirty="0" err="1"/>
              <a:t>familles</a:t>
            </a:r>
            <a:r>
              <a:rPr sz="1400" dirty="0"/>
              <a:t> </a:t>
            </a:r>
            <a:r>
              <a:rPr sz="1400" dirty="0" err="1"/>
              <a:t>d'algorithmes</a:t>
            </a:r>
            <a:r>
              <a:rPr sz="1400" dirty="0"/>
              <a:t> </a:t>
            </a:r>
            <a:r>
              <a:rPr sz="1400" dirty="0" err="1"/>
              <a:t>complémentaires</a:t>
            </a:r>
            <a:r>
              <a:rPr sz="1400" dirty="0"/>
              <a:t> </a:t>
            </a:r>
            <a:r>
              <a:rPr sz="1400" dirty="0" err="1"/>
              <a:t>testées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1. </a:t>
            </a:r>
            <a:r>
              <a:rPr sz="1400" dirty="0" err="1"/>
              <a:t>Régression</a:t>
            </a:r>
            <a:r>
              <a:rPr sz="1400" dirty="0"/>
              <a:t> </a:t>
            </a:r>
            <a:r>
              <a:rPr sz="1400" dirty="0" err="1"/>
              <a:t>Logistique</a:t>
            </a:r>
            <a:r>
              <a:rPr sz="1400" dirty="0"/>
              <a:t> : </a:t>
            </a:r>
            <a:r>
              <a:rPr sz="1400" dirty="0" err="1"/>
              <a:t>Modèle</a:t>
            </a:r>
            <a:r>
              <a:rPr sz="1400" dirty="0"/>
              <a:t> </a:t>
            </a:r>
            <a:r>
              <a:rPr sz="1400" dirty="0" err="1"/>
              <a:t>linéaire</a:t>
            </a:r>
            <a:r>
              <a:rPr sz="1400" dirty="0"/>
              <a:t> baseline, </a:t>
            </a:r>
            <a:r>
              <a:rPr sz="1400" dirty="0" err="1"/>
              <a:t>rapide</a:t>
            </a:r>
            <a:r>
              <a:rPr sz="1400" dirty="0"/>
              <a:t> et </a:t>
            </a:r>
            <a:r>
              <a:rPr sz="1400" dirty="0" err="1"/>
              <a:t>hautement</a:t>
            </a:r>
            <a:r>
              <a:rPr sz="1400" dirty="0"/>
              <a:t> </a:t>
            </a:r>
            <a:r>
              <a:rPr sz="1400" dirty="0" err="1"/>
              <a:t>interprétable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2. Random Forest : Ensemble </a:t>
            </a:r>
            <a:r>
              <a:rPr sz="1400" dirty="0" err="1"/>
              <a:t>d'arbres</a:t>
            </a:r>
            <a:r>
              <a:rPr sz="1400" dirty="0"/>
              <a:t> de </a:t>
            </a:r>
            <a:r>
              <a:rPr sz="1400" dirty="0" err="1"/>
              <a:t>décision</a:t>
            </a:r>
            <a:r>
              <a:rPr sz="1400" dirty="0"/>
              <a:t> par Bagging, </a:t>
            </a:r>
            <a:r>
              <a:rPr sz="1400" dirty="0" err="1"/>
              <a:t>robuste</a:t>
            </a:r>
            <a:r>
              <a:rPr sz="1400" dirty="0"/>
              <a:t> aux outliers.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3. </a:t>
            </a:r>
            <a:r>
              <a:rPr sz="1400" dirty="0" err="1"/>
              <a:t>HistGradientBoosting</a:t>
            </a:r>
            <a:r>
              <a:rPr sz="1400" dirty="0"/>
              <a:t> : Boosting </a:t>
            </a:r>
            <a:r>
              <a:rPr sz="1400" dirty="0" err="1"/>
              <a:t>d'arbres</a:t>
            </a:r>
            <a:r>
              <a:rPr sz="1400" dirty="0"/>
              <a:t> par </a:t>
            </a:r>
            <a:r>
              <a:rPr sz="1400" dirty="0" err="1"/>
              <a:t>histogrammes</a:t>
            </a:r>
            <a:r>
              <a:rPr sz="1400" dirty="0"/>
              <a:t> (</a:t>
            </a:r>
            <a:r>
              <a:rPr sz="1400" dirty="0" err="1"/>
              <a:t>optimisé</a:t>
            </a:r>
            <a:r>
              <a:rPr sz="1400" dirty="0"/>
              <a:t> pour grands volumes de données).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 dirty="0"/>
              <a:t>🔬 Protocole de Validation </a:t>
            </a:r>
            <a:r>
              <a:rPr sz="1400" dirty="0" err="1"/>
              <a:t>Rigoureux</a:t>
            </a:r>
            <a:endParaRPr sz="14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Stratified 5-Fold Cross Validation : conservation </a:t>
            </a:r>
            <a:r>
              <a:rPr sz="1400" dirty="0" err="1"/>
              <a:t>scrupuleuse</a:t>
            </a:r>
            <a:r>
              <a:rPr sz="1400" dirty="0"/>
              <a:t> du ratio de classes dans </a:t>
            </a:r>
            <a:r>
              <a:rPr sz="1400" dirty="0" err="1"/>
              <a:t>chaque</a:t>
            </a:r>
            <a:r>
              <a:rPr sz="1400" dirty="0"/>
              <a:t> </a:t>
            </a:r>
            <a:r>
              <a:rPr sz="1400" dirty="0" err="1"/>
              <a:t>pli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Découpage</a:t>
            </a:r>
            <a:r>
              <a:rPr sz="1400" dirty="0"/>
              <a:t> Train/Test </a:t>
            </a:r>
            <a:r>
              <a:rPr sz="1400" dirty="0" err="1"/>
              <a:t>étanche</a:t>
            </a:r>
            <a:r>
              <a:rPr sz="1400" dirty="0"/>
              <a:t> (80% </a:t>
            </a:r>
            <a:r>
              <a:rPr sz="1400" dirty="0" err="1"/>
              <a:t>entraînement</a:t>
            </a:r>
            <a:r>
              <a:rPr sz="1400" dirty="0"/>
              <a:t>, 20% test = 6 519 </a:t>
            </a:r>
            <a:r>
              <a:rPr sz="1400" dirty="0" err="1"/>
              <a:t>étudiants</a:t>
            </a:r>
            <a:r>
              <a:rPr sz="1400" dirty="0"/>
              <a:t> </a:t>
            </a:r>
            <a:r>
              <a:rPr sz="1400" dirty="0" err="1"/>
              <a:t>indépendants</a:t>
            </a:r>
            <a:r>
              <a:rPr sz="1400" dirty="0"/>
              <a:t>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Pipeline Scikit-Learn </a:t>
            </a:r>
            <a:r>
              <a:rPr sz="1400" dirty="0" err="1"/>
              <a:t>intégré</a:t>
            </a:r>
            <a:r>
              <a:rPr sz="1400" dirty="0"/>
              <a:t> </a:t>
            </a:r>
            <a:r>
              <a:rPr sz="1400" dirty="0" err="1"/>
              <a:t>évitant</a:t>
            </a:r>
            <a:r>
              <a:rPr sz="1400" dirty="0"/>
              <a:t> tout </a:t>
            </a:r>
            <a:r>
              <a:rPr sz="1400" dirty="0" err="1"/>
              <a:t>risque</a:t>
            </a:r>
            <a:r>
              <a:rPr sz="1400" dirty="0"/>
              <a:t> de </a:t>
            </a:r>
            <a:r>
              <a:rPr sz="1400" dirty="0" err="1"/>
              <a:t>fuite</a:t>
            </a:r>
            <a:r>
              <a:rPr sz="1400" dirty="0"/>
              <a:t> </a:t>
            </a:r>
            <a:r>
              <a:rPr sz="1400" dirty="0" err="1"/>
              <a:t>lors</a:t>
            </a:r>
            <a:r>
              <a:rPr sz="1400" dirty="0"/>
              <a:t> de la </a:t>
            </a:r>
            <a:r>
              <a:rPr sz="1400" dirty="0" err="1"/>
              <a:t>standardisation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Optimisation</a:t>
            </a:r>
            <a:r>
              <a:rPr sz="1400" dirty="0"/>
              <a:t> pour maximiser le ROC-AUC et le F1-Score sur la </a:t>
            </a:r>
            <a:r>
              <a:rPr sz="1400" dirty="0" err="1"/>
              <a:t>classe</a:t>
            </a:r>
            <a:r>
              <a:rPr sz="1400" dirty="0"/>
              <a:t> </a:t>
            </a:r>
            <a:r>
              <a:rPr sz="1400" dirty="0" err="1"/>
              <a:t>minoritaire</a:t>
            </a:r>
            <a:r>
              <a:rPr sz="1400" dirty="0"/>
              <a:t> à </a:t>
            </a:r>
            <a:r>
              <a:rPr sz="1400" dirty="0" err="1"/>
              <a:t>risque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7. </a:t>
            </a:r>
            <a:r>
              <a:rPr sz="2800" dirty="0" err="1"/>
              <a:t>Comparatif</a:t>
            </a:r>
            <a:r>
              <a:rPr sz="2800" dirty="0"/>
              <a:t> des Performances &amp; </a:t>
            </a:r>
            <a:r>
              <a:rPr sz="2800" dirty="0" err="1"/>
              <a:t>Modèle</a:t>
            </a:r>
            <a:r>
              <a:rPr sz="2800" dirty="0"/>
              <a:t> </a:t>
            </a:r>
            <a:r>
              <a:rPr sz="2800" dirty="0" err="1"/>
              <a:t>Retenu</a:t>
            </a:r>
            <a:endParaRPr sz="28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Reddad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ML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6" name="Picture 5" descr="model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" y="1634837"/>
            <a:ext cx="6776131" cy="37268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9316" y="1371600"/>
            <a:ext cx="48463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 dirty="0"/>
              <a:t>🏆 </a:t>
            </a:r>
            <a:r>
              <a:rPr sz="1400" dirty="0" err="1"/>
              <a:t>Pourquoi</a:t>
            </a:r>
            <a:r>
              <a:rPr sz="1400" dirty="0"/>
              <a:t> </a:t>
            </a:r>
            <a:r>
              <a:rPr sz="1400" dirty="0" err="1"/>
              <a:t>HistGradientBoosting</a:t>
            </a:r>
            <a:r>
              <a:rPr sz="1400" dirty="0"/>
              <a:t> Gagne ?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Accuracy : 93.04% (le plus haut score global).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ROC-AUC : 0.9812 (</a:t>
            </a:r>
            <a:r>
              <a:rPr sz="1400" dirty="0" err="1"/>
              <a:t>séparation</a:t>
            </a:r>
            <a:r>
              <a:rPr sz="1400" dirty="0"/>
              <a:t> quasi-</a:t>
            </a:r>
            <a:r>
              <a:rPr sz="1400" dirty="0" err="1"/>
              <a:t>parfaite</a:t>
            </a:r>
            <a:r>
              <a:rPr sz="1400" dirty="0"/>
              <a:t> des distributions).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Précision</a:t>
            </a:r>
            <a:r>
              <a:rPr sz="1400" dirty="0"/>
              <a:t> Risque : 95.88% -&gt; </a:t>
            </a:r>
            <a:r>
              <a:rPr sz="1400" dirty="0" err="1"/>
              <a:t>seulement</a:t>
            </a:r>
            <a:r>
              <a:rPr sz="1400" dirty="0"/>
              <a:t> 4% de </a:t>
            </a:r>
            <a:r>
              <a:rPr sz="1400" dirty="0" err="1"/>
              <a:t>fausses</a:t>
            </a:r>
            <a:r>
              <a:rPr sz="1400" dirty="0"/>
              <a:t> </a:t>
            </a:r>
            <a:r>
              <a:rPr sz="1400" dirty="0" err="1"/>
              <a:t>alertes</a:t>
            </a:r>
            <a:r>
              <a:rPr sz="1400" dirty="0"/>
              <a:t>, </a:t>
            </a:r>
            <a:r>
              <a:rPr sz="1400" dirty="0" err="1"/>
              <a:t>ce</a:t>
            </a:r>
            <a:r>
              <a:rPr sz="1400" dirty="0"/>
              <a:t> qui ne surcharge pas </a:t>
            </a:r>
            <a:r>
              <a:rPr sz="1400" dirty="0" err="1"/>
              <a:t>inutilement</a:t>
            </a:r>
            <a:r>
              <a:rPr sz="1400" dirty="0"/>
              <a:t> les </a:t>
            </a:r>
            <a:r>
              <a:rPr sz="1400" dirty="0" err="1"/>
              <a:t>tuteurs</a:t>
            </a:r>
            <a:r>
              <a:rPr sz="1400" dirty="0"/>
              <a:t> !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Rappel Risque : 90.70% -&gt; plus de 9 </a:t>
            </a:r>
            <a:r>
              <a:rPr sz="1400" dirty="0" err="1"/>
              <a:t>étudiants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difficulté</a:t>
            </a:r>
            <a:r>
              <a:rPr sz="1400" dirty="0"/>
              <a:t> sur 10 </a:t>
            </a:r>
            <a:r>
              <a:rPr sz="1400" dirty="0" err="1"/>
              <a:t>sont</a:t>
            </a:r>
            <a:r>
              <a:rPr sz="1400" dirty="0"/>
              <a:t> </a:t>
            </a:r>
            <a:r>
              <a:rPr sz="1400" dirty="0" err="1"/>
              <a:t>interceptés</a:t>
            </a:r>
            <a:r>
              <a:rPr sz="1400" dirty="0"/>
              <a:t> </a:t>
            </a:r>
            <a:r>
              <a:rPr sz="1400" dirty="0" err="1"/>
              <a:t>dès</a:t>
            </a:r>
            <a:r>
              <a:rPr sz="1400" dirty="0"/>
              <a:t> le premier </a:t>
            </a:r>
            <a:r>
              <a:rPr sz="1400" dirty="0" err="1"/>
              <a:t>mois</a:t>
            </a:r>
            <a:r>
              <a:rPr sz="1400" dirty="0"/>
              <a:t>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• Temps </a:t>
            </a:r>
            <a:r>
              <a:rPr sz="1400" dirty="0" err="1"/>
              <a:t>d'inférence</a:t>
            </a:r>
            <a:r>
              <a:rPr sz="1400" dirty="0"/>
              <a:t> ultra-</a:t>
            </a:r>
            <a:r>
              <a:rPr sz="1400" dirty="0" err="1"/>
              <a:t>rapide</a:t>
            </a:r>
            <a:r>
              <a:rPr sz="1400" dirty="0"/>
              <a:t> (&lt; 1 </a:t>
            </a:r>
            <a:r>
              <a:rPr sz="1400" dirty="0" err="1"/>
              <a:t>ms</a:t>
            </a:r>
            <a:r>
              <a:rPr sz="1400" dirty="0"/>
              <a:t> par </a:t>
            </a:r>
            <a:r>
              <a:rPr sz="1400" dirty="0" err="1"/>
              <a:t>requête</a:t>
            </a:r>
            <a:r>
              <a:rPr sz="1400" dirty="0"/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400" dirty="0"/>
              <a:t>8. </a:t>
            </a:r>
            <a:r>
              <a:rPr sz="2400" dirty="0" err="1"/>
              <a:t>Interprétabilité</a:t>
            </a:r>
            <a:r>
              <a:rPr sz="2400" dirty="0"/>
              <a:t> &amp; </a:t>
            </a:r>
            <a:r>
              <a:rPr sz="2400" dirty="0" err="1"/>
              <a:t>Recommandations</a:t>
            </a:r>
            <a:r>
              <a:rPr sz="2400" dirty="0"/>
              <a:t> </a:t>
            </a:r>
            <a:r>
              <a:rPr sz="2400" dirty="0" err="1"/>
              <a:t>Pédagogiques</a:t>
            </a:r>
            <a:endParaRPr sz="24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200" dirty="0"/>
              <a:t>🎓 </a:t>
            </a:r>
            <a:r>
              <a:rPr sz="1200" dirty="0" err="1"/>
              <a:t>EduAccess</a:t>
            </a:r>
            <a:r>
              <a:rPr sz="1200" dirty="0"/>
              <a:t> —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/>
              <a:t>👤 Membre 3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/>
              <a:t>ML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" y="1524000"/>
            <a:ext cx="6053177" cy="36991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🎯 Moteur Pédagogique Actionnable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1. Activité VLE &lt; 100 clics -&gt; Alerte connexion et vérification d'accès technique.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2. Première note &lt; 40/100 -&gt; Recommandation immédiate de tutorat individualisé.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3. Retards répétés -&gt; Atelier de gestion du temps et aménagement du calendrier.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4. Charge &gt; 120 crédits -&gt; Conseil de rééquilibrage du parcours académique.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Résultat : Le tuteur reçoit un diagnostic clair avec des actions concrètes à mener.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9. Architecture Système &amp; Flux de Données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Backend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Saad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Backend &amp; Software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6" name="Picture 5" descr="architectur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698480" cy="40119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🏗️ Découpage Modulaire en 5 Couches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Couche 1 (Data) : Stockage OULAD brut &amp; CSV consolidé. | Couche 2 (ML Core) : Pipeline sérialisé Joblib.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Couche 3 (Backend API) : FastAPI asynchrone avec validation Pydantic v2. | Couche 4 (UI) : Dashboard Streamlit.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Couche 5 (DevOps) : Tests unitaires Pytest &amp; conteneurisation Docker / Docker-Compose.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10. API REST </a:t>
            </a:r>
            <a:r>
              <a:rPr sz="2800" dirty="0" err="1"/>
              <a:t>FastAPI</a:t>
            </a:r>
            <a:r>
              <a:rPr sz="2800" dirty="0"/>
              <a:t> : Conception &amp; Endpoints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Backend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Saad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Backend &amp; Software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📡 Endpoints REST Implémentés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GET /health : Statut du service et vérification du chargement du modèle.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GET /metrics : Métriques comparatives complètes et matrices de confusion.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GET /sample_profiles : Profils types (faible, moyen et fort risque).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POST /predict : Prédiction unitaire temps réel avec probabilité et recommandations.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POST /predict_batch : Diagnostic en masse d'une liste d'étudiants (JSON).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POST /predict_csv : Traitement et enrichissement d'un fichier CSV de cohorte.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🛡️ Robustesse, Schémas &amp; Documentation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Documentation OpenAPI interactive : Swagger UI accessible sur /docs et ReDoc sur /redoc.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Validation stricte des contrats de données via Pydantic v2 (StudentProfileInput, PredictionResponse).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Gestion moderne du cycle de vie via @asynccontextmanager (lifespan) pour charger le modèle une seule fois.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Configuration CORS complète permettant l'intégration avec n'importe quelle application externe.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11. Performance </a:t>
            </a:r>
            <a:r>
              <a:rPr sz="2800" dirty="0" err="1"/>
              <a:t>d'Inférence</a:t>
            </a:r>
            <a:r>
              <a:rPr sz="2800" dirty="0"/>
              <a:t> &amp; </a:t>
            </a:r>
            <a:r>
              <a:rPr sz="2800" dirty="0" err="1"/>
              <a:t>Traitement</a:t>
            </a:r>
            <a:r>
              <a:rPr sz="2800" dirty="0"/>
              <a:t> par Lot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Backend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/>
              <a:t>👤 Membre 4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/>
              <a:t>Backend &amp; Software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5" y="1333500"/>
            <a:ext cx="5422392" cy="45186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1371600"/>
            <a:ext cx="53949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⚡ Métriques Opérationnelles de l'API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Temps de réponse moyen unitaire : 12 ms par requête /predict.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Débit en mode batch : &gt; 1 500 profils analysés par seconde via /predict_batch.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Consommation mémoire du service : stable à environ 140 Mo de RAM.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Gestion gracieuse des erreurs : codes HTTP 400 et 422 avec messages explicatifs en cas de champ invalide.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Tests d'intégration API validés avec TestClient de FastAPI dans tests/test_api.py.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12. Interface </a:t>
            </a:r>
            <a:r>
              <a:rPr sz="2800" dirty="0" err="1"/>
              <a:t>Utilisateur</a:t>
            </a:r>
            <a:r>
              <a:rPr sz="2800" dirty="0"/>
              <a:t> </a:t>
            </a:r>
            <a:r>
              <a:rPr sz="2800" dirty="0" err="1"/>
              <a:t>Streamlit</a:t>
            </a:r>
            <a:r>
              <a:rPr sz="2800" dirty="0"/>
              <a:t> : 5 Vues </a:t>
            </a:r>
            <a:r>
              <a:rPr sz="2800" dirty="0" err="1"/>
              <a:t>Clés</a:t>
            </a:r>
            <a:endParaRPr sz="28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Frontend &amp; </a:t>
            </a:r>
            <a:r>
              <a:rPr sz="1400" dirty="0" err="1"/>
              <a:t>MLOps</a:t>
            </a:r>
            <a:endParaRPr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Amine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Frontend &amp; </a:t>
            </a:r>
            <a:r>
              <a:rPr sz="1400" dirty="0" err="1"/>
              <a:t>MLOps</a:t>
            </a:r>
            <a:r>
              <a:rPr sz="1400" dirty="0"/>
              <a:t>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🖥️ Les 5 Vues Dédiées aux Décideurs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Vue 1 — Vue d'ensemble &amp; EDA : Statistiques descriptives OULAD, distributions et corrélations clics/résultats.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Vue 2 — Modèles &amp; Performances : Matrices de confusion, courbes ROC et comparateur interactif.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Vue 3 — Simulateur de Risque : Formulaire dynamique pour tester un profil étudiant avec jauge Plotly.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Vue 4 — Analyse par Cohorte : Filtrage de la cohorte OULAD ou import d'un fichier CSV externe avec export.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Vue 5 — Support &amp; Éthique : Charte déontologique et guide de bonnes pratiques.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🎨 Expérience Utilisateur &amp; Ergonomie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Seuil d'alerte ajustable en direct par l'utilisateur (curseur de 0.20 à 0.80 dans la barre latérale).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Jauges et visualisations interactives conçues avec Plotly Express.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Affichage immédiat des alertes visuelles (vert = sécurisé, rouge = alerte précoce).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Génération en un clic du plan de tutorat personnalisé.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13. </a:t>
            </a:r>
            <a:r>
              <a:rPr sz="2800" dirty="0" err="1"/>
              <a:t>Qualité</a:t>
            </a:r>
            <a:r>
              <a:rPr sz="2800" dirty="0"/>
              <a:t> </a:t>
            </a:r>
            <a:r>
              <a:rPr sz="2800" dirty="0" err="1"/>
              <a:t>Logicielle</a:t>
            </a:r>
            <a:r>
              <a:rPr sz="2800" dirty="0"/>
              <a:t> (</a:t>
            </a:r>
            <a:r>
              <a:rPr sz="2800" dirty="0" err="1"/>
              <a:t>Pytest</a:t>
            </a:r>
            <a:r>
              <a:rPr sz="2800" dirty="0"/>
              <a:t>) &amp; DevOps Docker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Frontend &amp; </a:t>
            </a:r>
            <a:r>
              <a:rPr sz="1400" dirty="0" err="1"/>
              <a:t>MLOps</a:t>
            </a:r>
            <a:endParaRPr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Amine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Frontend &amp; </a:t>
            </a:r>
            <a:r>
              <a:rPr sz="1400" dirty="0" err="1"/>
              <a:t>MLOps</a:t>
            </a:r>
            <a:r>
              <a:rPr sz="1400" dirty="0"/>
              <a:t>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🧪 Suite de 13 Tests Automatisés (Pytest)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test_data.py : Intégrité des 22 variables explicatives, absence de NaN critiques, équilibre de la cible.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test_models.py : Inférence correcte, probabilités bornées dans [0, 1], pertinence du moteur de recommandations.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test_api.py : Validation des endpoints FastAPI (/health, /predict, /predict_batch, /metrics) via TestClient.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Exécution en une seule commande : python run_project.py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🐳 Déploiement Conteneurisé Reproductible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Dockerfile : Image optimisée avec Python 3.11/3.13 et dépendances préinstallées.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docker-compose.yml : Orchestration multi-conteneurs unifiée de l'API et du frontend.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Démarrage clé en main en une seule commande : docker-compose up --build.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CLI universel run_project.py : commandes intuitives (prepare, train, test, api, app, full).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800" dirty="0"/>
              <a:t>14. </a:t>
            </a:r>
            <a:r>
              <a:rPr sz="2800" dirty="0" err="1"/>
              <a:t>Démonstration</a:t>
            </a:r>
            <a:r>
              <a:rPr sz="2800" dirty="0"/>
              <a:t> Live du Système </a:t>
            </a:r>
            <a:r>
              <a:rPr sz="2800" dirty="0" err="1"/>
              <a:t>EduAccess</a:t>
            </a:r>
            <a:endParaRPr sz="2800"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🎓 </a:t>
            </a:r>
            <a:r>
              <a:rPr sz="1400" dirty="0" err="1"/>
              <a:t>EduAccess</a:t>
            </a:r>
            <a:r>
              <a:rPr sz="1400" dirty="0"/>
              <a:t> — Frontend &amp; </a:t>
            </a:r>
            <a:r>
              <a:rPr sz="1400" dirty="0" err="1"/>
              <a:t>MLOps</a:t>
            </a:r>
            <a:endParaRPr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Amine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/>
              <a:t>Frontend &amp; </a:t>
            </a:r>
            <a:r>
              <a:rPr sz="1400" dirty="0" err="1"/>
              <a:t>MLOps</a:t>
            </a:r>
            <a:r>
              <a:rPr sz="1400" dirty="0"/>
              <a:t>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5000" dirty="0"/>
              <a:t>🎬 </a:t>
            </a:r>
            <a:r>
              <a:rPr sz="5000" dirty="0" err="1"/>
              <a:t>Scénario</a:t>
            </a:r>
            <a:r>
              <a:rPr sz="5000" dirty="0"/>
              <a:t> de </a:t>
            </a:r>
            <a:r>
              <a:rPr sz="5000" dirty="0" err="1"/>
              <a:t>Démonstration</a:t>
            </a:r>
            <a:r>
              <a:rPr sz="5000" dirty="0"/>
              <a:t> </a:t>
            </a:r>
            <a:r>
              <a:rPr sz="5000" dirty="0" err="1"/>
              <a:t>en</a:t>
            </a:r>
            <a:r>
              <a:rPr sz="5000" dirty="0"/>
              <a:t> Direct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3200" dirty="0"/>
              <a:t>15. </a:t>
            </a:r>
            <a:r>
              <a:rPr sz="3200" dirty="0" err="1"/>
              <a:t>Synthèse</a:t>
            </a:r>
            <a:r>
              <a:rPr sz="3200" dirty="0"/>
              <a:t> des </a:t>
            </a:r>
            <a:r>
              <a:rPr sz="3200" dirty="0" err="1"/>
              <a:t>Livrables</a:t>
            </a:r>
            <a:r>
              <a:rPr sz="3200" dirty="0"/>
              <a:t> &amp; Perspectives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 dirty="0"/>
              <a:t>🎓 </a:t>
            </a:r>
            <a:r>
              <a:rPr sz="1600" dirty="0" err="1"/>
              <a:t>EduAccess</a:t>
            </a:r>
            <a:r>
              <a:rPr sz="1600" dirty="0"/>
              <a:t> —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2926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👤 </a:t>
            </a:r>
            <a:r>
              <a:rPr lang="en-US" sz="1400" dirty="0"/>
              <a:t>Amine</a:t>
            </a:r>
            <a:endParaRPr sz="1400" dirty="0"/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rPr sz="1400" dirty="0" err="1"/>
              <a:t>Synthèse</a:t>
            </a:r>
            <a:r>
              <a:rPr sz="1400" dirty="0"/>
              <a:t> </a:t>
            </a:r>
            <a:r>
              <a:rPr sz="1400" dirty="0" err="1"/>
              <a:t>Globale</a:t>
            </a:r>
            <a:endParaRPr sz="1400" dirty="0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✅ Validation Complète des 4 Livrables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Livrable 1 : Support pédagogique complet (SUPPORT_PEDAGOGIQUE.md + Diaporama HTML interactif).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Livrable 2 : Code source complet (Pipeline ETL, Modèles ML, FastAPI, Streamlit, Docker, Pytest).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Livrable 3 : Énoncé du TP guidé pas-à-pas (TP_EduAccess_Enonce.md &amp; .ipynb).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Livrable 4 : Corrigé complet et détaillé du TP (TP_EduAccess_Correction.md &amp; .ipynb).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rPr sz="1400"/>
              <a:t>🚀 Limites Reconnues &amp; Perspectives Futures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Cold-Start : Améliorer la détection les 7 premiers jours grâce aux données sociodémographiques initiales.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Traçabilité externe : Intégrer les activités d'apprentissage hors plateforme (visioconférences, devoirs papier).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Monitoring MLOps Continu : Ajout d'Evidently AI ou MLflow pour surveiller la dérive des données (Data Drift).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• Merci pour votre attention ! Nous sommes prêts pour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2180</Words>
  <Application>Microsoft Office PowerPoint</Application>
  <PresentationFormat>Grand écran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Houssam Nassih</dc:creator>
  <cp:keywords/>
  <dc:description>generated using python-pptx</dc:description>
  <cp:lastModifiedBy>Nassih Houssam</cp:lastModifiedBy>
  <cp:revision>5</cp:revision>
  <dcterms:created xsi:type="dcterms:W3CDTF">2013-01-27T09:14:16Z</dcterms:created>
  <dcterms:modified xsi:type="dcterms:W3CDTF">2026-10-28T18:58:35Z</dcterms:modified>
  <cp:category/>
</cp:coreProperties>
</file>