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MEMBRE 1 (Chef de Projet &amp; Data Engineer) — ⏱️ 1 min :</a:t>
            </a:r>
          </a:p>
          <a:p/>
          <a:p>
            <a:r>
              <a:t>« Bonjour à tous et bienvenue à la soutenance de notre projet EduAccess. Nous sommes un groupe de 5 étudiants-ingénieurs et nous avons conçu, développé et déployé une application intelligente complète d'aide à la décision pour repérer précocement les risques d'échec et de décrochage dans l'enseignement supérieur à distance. Les 4 livrables du cahier des charges sont intégralement réalisés et validés. Je vais commencer par vous présenter l'organisation de notre équipe et notre démarche. »</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MEMBRE 1 (Chef de Projet &amp; Data Engineer) — ⏱️ 1 min 30 :</a:t>
            </a:r>
          </a:p>
          <a:p/>
          <a:p>
            <a:r>
              <a:t>« Pour aborder ce projet complexe, notre équipe a adopté un découpage clair selon 5 expertises complémentaires :</a:t>
            </a:r>
          </a:p>
          <a:p>
            <a:r>
              <a:t>- Moi-même, j'assure le cadrage fonctionnel et l'ingénierie des données OULAD.</a:t>
            </a:r>
          </a:p>
          <a:p>
            <a:r>
              <a:t>- Membre 2 est notre Lead Data Scientist, en charge de la conception des variables et du benchmark des modèles.</a:t>
            </a:r>
          </a:p>
          <a:p>
            <a:r>
              <a:t>- Membre 3 a développé l'API REST FastAPI de production.</a:t>
            </a:r>
          </a:p>
          <a:p>
            <a:r>
              <a:t>- Membre 4 a conçu le tableau de bord Streamlit et le moteur de recommandations pédagogiques.</a:t>
            </a:r>
          </a:p>
          <a:p>
            <a:r>
              <a:t>- Membre 5 garantit la qualité logicielle avec 13 tests automatisés, le déploiement Docker et le cadre éthique.</a:t>
            </a:r>
          </a:p>
          <a:p>
            <a:r>
              <a:t>Voyons tout de suite le contexte et les objectifs du projet. »</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MEMBRE 1 (Chef de Projet &amp; Data Engineer) — ⏱️ 1 min 30 :</a:t>
            </a:r>
          </a:p>
          <a:p/>
          <a:p>
            <a:r>
              <a:t>« Dans les cours à distance, un étudiant en difficulté ne prévient presque jamais. Le constat d'échec est traditionnellement établi lors des jurys de fin de semestre : c'est bien trop tard pour intervenir. EduAccess répond à ce problème en détectant les signaux faibles dès les 30 à 60 premiers jours de formation.</a:t>
            </a:r>
          </a:p>
          <a:p>
            <a:r>
              <a:t>J'insiste sur un principe éthique fondamental : EduAccess est un outil d'assistance pour les tuteurs et les enseignants, et en AUCUN CAS un système de décision ou d'exclusion automatique. Passons maintenant aux données sous-jacentes. »</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MEMBRE 1 (Chef de Projet &amp; Data Engineer) — ⏱️ 2 min :</a:t>
            </a:r>
          </a:p>
          <a:p/>
          <a:p>
            <a:r>
              <a:t>« Nous nous appuyons sur le dataset universitaire de référence OULAD : 32 593 profils d'étudiants, 173 000 notes d'évaluations et surtout 10,6 millions d'interactions de clics dans le fichier studentVle.csv de 453 Mo.</a:t>
            </a:r>
          </a:p>
          <a:p>
            <a:r>
              <a:t>Pour traiter cette volumétrie sans saturer la RAM, j'ai implémenté dans data_loader.py un traitement par blocs de 1 million de lignes. Cela nous permet d'extraire les clics précoces à 30 jours et les jours actifs en moins de 6 secondes chrono, générant notre dataset nettoyé.</a:t>
            </a:r>
          </a:p>
          <a:p/>
          <a:p>
            <a:r>
              <a:t>➡️ TRANSITION : Je passe la parole à Membre 2 pour vous expliquer comment ces données ont été transformées en variables prédictives et modélisées. »</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MEMBRE 2 (Lead Data Scientist &amp; Modélisation) — ⏱️ 2 min :</a:t>
            </a:r>
          </a:p>
          <a:p/>
          <a:p>
            <a:r>
              <a:t>« Merci Membre 1. Une fois les données nettoyées, notre premier impératif en Feature Engineering a été la prévention absolue du Data Leakage. Dans le dataset OULAD, la variable date_unregistration donne la date exacte d'abandon de l'étudiant : l'inclure donnerait un modèle parfait mais inutilisable en précoce. Nous l'avons donc formellement bannie.</a:t>
            </a:r>
          </a:p>
          <a:p>
            <a:r>
              <a:t>Notre cible est parfaitement équilibrée avec 52.8% d'étudiants à risque et 47.2% en réussite. Nous avons extrait 22 caractéristiques capturant l'assiduité VLE à 30 jours, les notes aux premiers devoirs, les retards de soumission et la charge de crédits. »</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MEMBRE 2 (Lead Data Scientist &amp; Modélisation) — ⏱️ 2 min :</a:t>
            </a:r>
          </a:p>
          <a:p/>
          <a:p>
            <a:r>
              <a:t>« Pour sélectionner notre modèle de production, nous avons évalué trois algorithmes en validation croisée stratifiée à 5 plis : une Régression Logistique, un Random Forest et un HistGradientBoosting.</a:t>
            </a:r>
          </a:p>
          <a:p>
            <a:r>
              <a:t>C'est le Gradient Boosting qui l'emporte sur tous les critères avec 93.04% d'accuracy, un F1-score de 93.22% et un score ROC-AUC de 0.9812.</a:t>
            </a:r>
          </a:p>
          <a:p>
            <a:r>
              <a:t>Dans un contexte pédagogique, notre priorité était la précision sur le risque : avec 95.88%, lorsqu'une alerte est levée, le tuteur peut intervenir en toute sérénité car le risque est quasi certain.</a:t>
            </a:r>
          </a:p>
          <a:p/>
          <a:p>
            <a:r>
              <a:t>➡️ TRANSITION : Je passe la main à Membre 3 pour l'architecture logicielle et l'API REST. »</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MEMBRE 3 (Ingénieur Backend &amp; API) — ⏱️ 1 min 30 :</a:t>
            </a:r>
          </a:p>
          <a:p/>
          <a:p>
            <a:r>
              <a:t>« Merci Membre 2. Un modèle de Machine Learning ne prend sa valeur que s'il est intégré dans un système robuste et découplé. Nous avons donc bâti une architecture modulaire en 5 piliers :</a:t>
            </a:r>
          </a:p>
          <a:p>
            <a:r>
              <a:t>1. L'ingestion ETL et le Feature Engineering Scikit-Learn ;</a:t>
            </a:r>
          </a:p>
          <a:p>
            <a:r>
              <a:t>2. Le registre des modèles sérialisés Joblib et le suivi des métriques JSON ;</a:t>
            </a:r>
          </a:p>
          <a:p>
            <a:r>
              <a:t>3. Notre API REST FastAPI pour exposer l'inférence de manière sécurisée ;</a:t>
            </a:r>
          </a:p>
          <a:p>
            <a:r>
              <a:t>4. Le frontend interactif Streamlit pour les tuteurs ;</a:t>
            </a:r>
          </a:p>
          <a:p>
            <a:r>
              <a:t>5. Et la chaîne de qualité DevOps avec Pytest et Docker.</a:t>
            </a:r>
          </a:p>
          <a:p>
            <a:r>
              <a:t>Ce découpage garantit que le modèle peut être consommé aussi bien par notre dashboard que par le système Moodle officiel de l'école. »</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MEMBRE 3 (Ingénieur Backend &amp; API) — ⏱️ 2 min :</a:t>
            </a:r>
          </a:p>
          <a:p/>
          <a:p>
            <a:r>
              <a:t>« Pour le backend, nous avons retenu FastAPI pour sa rapidité d'exécution asynchrone et sa génération automatique de documentation OpenAPI. Nous avons sécurisé l'intégralité des échanges grâce aux schémas Pydantic v2 dans schemas.py : chaque champ est strictement typé et les notes sont validées dans l'intervalle 0 à 100.</a:t>
            </a:r>
          </a:p>
          <a:p>
            <a:r>
              <a:t>Notre API propose des endpoints de diagnostic comme /health et /metrics, mais surtout trois modes d'inférence : unitaire avec /predict, en liste avec /predict_batch, et par fichier entier avec /predict_csv pour les cohortes complètes.</a:t>
            </a:r>
          </a:p>
          <a:p>
            <a:r>
              <a:t>Tout est testable interactivement via Swagger sur /docs.</a:t>
            </a:r>
          </a:p>
          <a:p/>
          <a:p>
            <a:r>
              <a:t>➡️ TRANSITION : Je passe la main à Membre 4 pour la découverte de l'application Streamlit. »</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MEMBRE 4 (Frontend &amp; UX Décisionnelle) — ⏱️ 2 min :</a:t>
            </a:r>
          </a:p>
          <a:p/>
          <a:p>
            <a:r>
              <a:t>« Merci Membre 3. Pour que les enseignants et tuteurs puissent facilement s'approprier notre modèle sans taper une seule ligne de code, j'ai développé une application web avec Streamlit.</a:t>
            </a:r>
          </a:p>
          <a:p>
            <a:r>
              <a:t>Le tableau de bord est structuré en 5 vues métier :</a:t>
            </a:r>
          </a:p>
          <a:p>
            <a:r>
              <a:t>1. Une vue d'analyse exploratoire pour visualiser les distributions de l'OULAD ;</a:t>
            </a:r>
          </a:p>
          <a:p>
            <a:r>
              <a:t>2. Un comparateur interactif affichant les matrices de confusion et courbes ROC ;</a:t>
            </a:r>
          </a:p>
          <a:p>
            <a:r>
              <a:t>3. Le simulateur où l'on charge un profil étudiant pour afficher instantanément sa jauge de risque ;</a:t>
            </a:r>
          </a:p>
          <a:p>
            <a:r>
              <a:t>4. La vue cohorte pour importer un fichier CSV complet de classe et exporter les alertes ;</a:t>
            </a:r>
          </a:p>
          <a:p>
            <a:r>
              <a:t>5. Et un volet éthique et pédagogique rappelant la charte d'utilisation bienveillante. »</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MEMBRE 4 (Frontend &amp; UX Décisionnelle) — ⏱️ 2 min :</a:t>
            </a:r>
          </a:p>
          <a:p/>
          <a:p>
            <a:r>
              <a:t>« La vraie force d'EduAccess réside dans son moteur de recommandations d'accompagnement. Prédire qu'un étudiant est à risque n'a aucune utilité si on n'explique pas POURQUOI et COMMENT l'aider.</a:t>
            </a:r>
          </a:p>
          <a:p>
            <a:r>
              <a:t>Notre système décompose les facteurs d'alerte :</a:t>
            </a:r>
          </a:p>
          <a:p>
            <a:r>
              <a:t>- Si l'activité VLE est faible, il suggère un contact proactif pour vérifier les accès informatiques ;</a:t>
            </a:r>
          </a:p>
          <a:p>
            <a:r>
              <a:t>- Si les notes de départ sont fragiles, il recommande un tutorat méthodologique d'urgence ;</a:t>
            </a:r>
          </a:p>
          <a:p>
            <a:r>
              <a:t>- En cas de retards fréquents, il préconise un aménagement de calendrier et un atelier d'organisation.</a:t>
            </a:r>
          </a:p>
          <a:p>
            <a:r>
              <a:t>Le tuteur dispose ainsi d'un plan d'action immédiat et individualisé.</a:t>
            </a:r>
          </a:p>
          <a:p/>
          <a:p>
            <a:r>
              <a:t>➡️ TRANSITION : Je passe la parole à Membre 5 pour la qualité logicielle, Docker et la conclusion. »</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MEMBRE 5 (Lead DevOps, QA &amp; Conclusion) — ⏱️ 2 min :</a:t>
            </a:r>
          </a:p>
          <a:p/>
          <a:p>
            <a:r>
              <a:t>« Merci Membre 4. Pour garantir la qualité industrielle et la maintenabilité d'EduAccess, nous avons mis en place une suite de tests rigoureuse avec Pytest. Treize tests automatisés vérifient l'intégrité des 22 variables, la cohérence mathématique des probabilités et la réponse des endpoints HTTP. L'ensemble s'exécute avec succès en seulement 4,38 secondes.</a:t>
            </a:r>
          </a:p>
          <a:p>
            <a:r>
              <a:t>Pour assurer une reproductibilité parfaite sur n'importe quel serveur, l'ensemble est conteneurisé avec Docker et orchestré par Docker Compose : un simple docker-compose up démarre l'API et Streamlit.</a:t>
            </a:r>
          </a:p>
          <a:p>
            <a:r>
              <a:t>Enfin, notre script CLI unifié run_project.py simplifie l'exécution locale de chaque phase du projet. »</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MEMBRE 5 (Lead DevOps, QA &amp; Conclusion) — ⏱️ 1 min 30 :</a:t>
            </a:r>
          </a:p>
          <a:p/>
          <a:p>
            <a:r>
              <a:t>« En tant que futurs ingénieurs, nous plaçons l'éthique au cœur de notre conception. EduAccess respecte scrupuleusement le principe de l'humain dans la boucle : l'algorithme éclaire mais ne tranche jamais. L'alerte est une opportunité d'écoute et d'aide.</a:t>
            </a:r>
          </a:p>
          <a:p>
            <a:r>
              <a:t>Nous reconnaissons également en toute transparence les limites du système : notamment le cold-start lors des tous premiers jours, et le fait que les séances de travail sur support papier ou hors connexion ne sont pas enregistrées par la plateforme en ligne. »</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MEMBRE 5 (Lead DevOps, QA &amp; Conclusion) — ⏱️ 1 min 30 :</a:t>
            </a:r>
          </a:p>
          <a:p/>
          <a:p>
            <a:r>
              <a:t>« En conclusion, nous sommes fiers de vous présenter un projet où l'ensemble des 4 livrables du cahier des charges de l'EMSI est rigoureusement achevé et validé :</a:t>
            </a:r>
          </a:p>
          <a:p>
            <a:r>
              <a:t>1. Le support pédagogique et les présentations ;</a:t>
            </a:r>
          </a:p>
          <a:p>
            <a:r>
              <a:t>2. Le code source complet, testé et conteneurisé ;</a:t>
            </a:r>
          </a:p>
          <a:p>
            <a:r>
              <a:t>3. L'énoncé du TP guidé avec ses notebooks Jupyter ;</a:t>
            </a:r>
          </a:p>
          <a:p>
            <a:r>
              <a:t>4. Et enfin le corrigé détaillé.</a:t>
            </a:r>
          </a:p>
          <a:p/>
          <a:p>
            <a:r>
              <a:t>Au nom de toute l'équipe d'EduAccess, nous vous remercions chaleureusement pour votre attention, et nous sommes maintenant à votre entière disposition pour répondre à toutes vos questions ! »</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371600"/>
            <a:ext cx="9445752" cy="4114800"/>
          </a:xfrm>
          <a:prstGeom prst="rect">
            <a:avLst/>
          </a:prstGeom>
          <a:noFill/>
        </p:spPr>
        <p:txBody>
          <a:bodyPr wrap="square">
            <a:spAutoFit/>
          </a:bodyPr>
          <a:lstStyle/>
          <a:p>
            <a:pPr algn="ctr">
              <a:defRPr sz="4400" b="1">
                <a:solidFill>
                  <a:srgbClr val="1E3A8A"/>
                </a:solidFill>
              </a:defRPr>
            </a:pPr>
            <a:r>
              <a:t>🎓 EduAccess</a:t>
            </a:r>
          </a:p>
          <a:p>
            <a:pPr algn="ctr">
              <a:spcBef>
                <a:spcPts val="1000"/>
              </a:spcBef>
              <a:defRPr sz="2000" b="1">
                <a:solidFill>
                  <a:srgbClr val="3B82F6"/>
                </a:solidFill>
              </a:defRPr>
            </a:pPr>
            <a:r>
              <a:t>Système Intelligent de Détection Précoce des Difficultés d'Apprentissage</a:t>
            </a:r>
          </a:p>
          <a:p>
            <a:pPr algn="ctr">
              <a:spcBef>
                <a:spcPts val="2400"/>
              </a:spcBef>
              <a:defRPr sz="1300">
                <a:solidFill>
                  <a:srgbClr val="64748B"/>
                </a:solidFill>
              </a:defRPr>
            </a:pPr>
            <a:r>
              <a:t>École Marocaine des Sciences de l'Ingénieur (EMSI) • Année 2026</a:t>
            </a:r>
            <a:br/>
            <a:r>
              <a:t>Module : Développement &amp; Déploiement d'Applications Intelligentes</a:t>
            </a:r>
            <a:br/>
            <a:r>
              <a:t>Encadrement : Pr. Soukaina Gouraguine</a:t>
            </a:r>
            <a:br/>
            <a:r>
              <a:t>Projet de Groupe : 5 Membres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772400" cy="731520"/>
          </a:xfrm>
          <a:prstGeom prst="rect">
            <a:avLst/>
          </a:prstGeom>
          <a:noFill/>
        </p:spPr>
        <p:txBody>
          <a:bodyPr wrap="square" tIns="0" bIns="0" lIns="0" rIns="0">
            <a:spAutoFit/>
          </a:bodyPr>
          <a:lstStyle/>
          <a:p>
            <a:pPr>
              <a:defRPr sz="2400" b="1">
                <a:solidFill>
                  <a:srgbClr val="1E3A8A"/>
                </a:solidFill>
                <a:latin typeface="Segoe UI"/>
              </a:defRPr>
            </a:pPr>
            <a:r>
              <a:t>Organisation du Groupe &amp; Répartition des Tâches</a:t>
            </a:r>
          </a:p>
        </p:txBody>
      </p:sp>
      <p:sp>
        <p:nvSpPr>
          <p:cNvPr id="4" name="Rounded Rectangle 3"/>
          <p:cNvSpPr/>
          <p:nvPr/>
        </p:nvSpPr>
        <p:spPr>
          <a:xfrm>
            <a:off x="8595360" y="365760"/>
            <a:ext cx="2834640" cy="54864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Segoe UI"/>
              </a:defRPr>
            </a:pPr>
            <a:r>
              <a:t>👤 Membre 1 (1 min 30)</a:t>
            </a:r>
          </a:p>
          <a:p>
            <a:pPr algn="ctr">
              <a:defRPr sz="900">
                <a:solidFill>
                  <a:srgbClr val="FFFFFF"/>
                </a:solidFill>
                <a:latin typeface="Segoe UI"/>
              </a:defRPr>
            </a:pPr>
            <a:r>
              <a:t>Chef de Projet &amp; Data Eng.</a:t>
            </a:r>
          </a:p>
        </p:txBody>
      </p:sp>
      <p:sp>
        <p:nvSpPr>
          <p:cNvPr id="5" name="Rounded Rectangle 4"/>
          <p:cNvSpPr/>
          <p:nvPr/>
        </p:nvSpPr>
        <p:spPr>
          <a:xfrm>
            <a:off x="731520" y="1645920"/>
            <a:ext cx="2011680"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2563EB"/>
                </a:solidFill>
              </a:defRPr>
            </a:pPr>
            <a:r>
              <a:t>👤 Membre 1</a:t>
            </a:r>
          </a:p>
          <a:p>
            <a:pPr algn="ctr">
              <a:spcBef>
                <a:spcPts val="400"/>
              </a:spcBef>
              <a:defRPr sz="1100" b="1">
                <a:solidFill>
                  <a:srgbClr val="1E3A8A"/>
                </a:solidFill>
              </a:defRPr>
            </a:pPr>
            <a:r>
              <a:t>Data Engineering</a:t>
            </a:r>
          </a:p>
          <a:p>
            <a:pPr algn="ctr">
              <a:spcBef>
                <a:spcPts val="1200"/>
              </a:spcBef>
              <a:defRPr sz="1000">
                <a:solidFill>
                  <a:srgbClr val="1E293B"/>
                </a:solidFill>
              </a:defRPr>
            </a:pPr>
            <a:r>
              <a:t>Pipeline ETL par chunks, consolidation OULAD (10.6M lignes), cadrage.</a:t>
            </a:r>
          </a:p>
          <a:p>
            <a:pPr algn="ctr">
              <a:spcBef>
                <a:spcPts val="2000"/>
              </a:spcBef>
              <a:defRPr sz="1000" b="1">
                <a:solidFill>
                  <a:srgbClr val="64748B"/>
                </a:solidFill>
              </a:defRPr>
            </a:pPr>
            <a:r>
              <a:t>📍 Slides 1-4</a:t>
            </a:r>
          </a:p>
        </p:txBody>
      </p:sp>
      <p:sp>
        <p:nvSpPr>
          <p:cNvPr id="6" name="Rectangle 5"/>
          <p:cNvSpPr/>
          <p:nvPr/>
        </p:nvSpPr>
        <p:spPr>
          <a:xfrm>
            <a:off x="731520" y="1645920"/>
            <a:ext cx="2011680"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926080" y="1645920"/>
            <a:ext cx="2011680"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7C3AED"/>
                </a:solidFill>
              </a:defRPr>
            </a:pPr>
            <a:r>
              <a:t>👤 Membre 2</a:t>
            </a:r>
          </a:p>
          <a:p>
            <a:pPr algn="ctr">
              <a:spcBef>
                <a:spcPts val="400"/>
              </a:spcBef>
              <a:defRPr sz="1100" b="1">
                <a:solidFill>
                  <a:srgbClr val="1E3A8A"/>
                </a:solidFill>
              </a:defRPr>
            </a:pPr>
            <a:r>
              <a:t>Data Science</a:t>
            </a:r>
          </a:p>
          <a:p>
            <a:pPr algn="ctr">
              <a:spcBef>
                <a:spcPts val="1200"/>
              </a:spcBef>
              <a:defRPr sz="1000">
                <a:solidFill>
                  <a:srgbClr val="1E293B"/>
                </a:solidFill>
              </a:defRPr>
            </a:pPr>
            <a:r>
              <a:t>Feature engineering (22 vars), benchmark ML, CV 5-folds, métriques.</a:t>
            </a:r>
          </a:p>
          <a:p>
            <a:pPr algn="ctr">
              <a:spcBef>
                <a:spcPts val="2000"/>
              </a:spcBef>
              <a:defRPr sz="1000" b="1">
                <a:solidFill>
                  <a:srgbClr val="64748B"/>
                </a:solidFill>
              </a:defRPr>
            </a:pPr>
            <a:r>
              <a:t>📍 Slides 5-6</a:t>
            </a:r>
          </a:p>
        </p:txBody>
      </p:sp>
      <p:sp>
        <p:nvSpPr>
          <p:cNvPr id="8" name="Rectangle 7"/>
          <p:cNvSpPr/>
          <p:nvPr/>
        </p:nvSpPr>
        <p:spPr>
          <a:xfrm>
            <a:off x="2926080" y="1645920"/>
            <a:ext cx="2011680" cy="914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120640" y="1645920"/>
            <a:ext cx="2011680"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059669"/>
                </a:solidFill>
              </a:defRPr>
            </a:pPr>
            <a:r>
              <a:t>👤 Membre 3</a:t>
            </a:r>
          </a:p>
          <a:p>
            <a:pPr algn="ctr">
              <a:spcBef>
                <a:spcPts val="400"/>
              </a:spcBef>
              <a:defRPr sz="1100" b="1">
                <a:solidFill>
                  <a:srgbClr val="1E3A8A"/>
                </a:solidFill>
              </a:defRPr>
            </a:pPr>
            <a:r>
              <a:t>Backend &amp; API</a:t>
            </a:r>
          </a:p>
          <a:p>
            <a:pPr algn="ctr">
              <a:spcBef>
                <a:spcPts val="1200"/>
              </a:spcBef>
              <a:defRPr sz="1000">
                <a:solidFill>
                  <a:srgbClr val="1E293B"/>
                </a:solidFill>
              </a:defRPr>
            </a:pPr>
            <a:r>
              <a:t>Architecture FastAPI asynchrone, schémas Pydantic v2, endpoints d'inférence.</a:t>
            </a:r>
          </a:p>
          <a:p>
            <a:pPr algn="ctr">
              <a:spcBef>
                <a:spcPts val="2000"/>
              </a:spcBef>
              <a:defRPr sz="1000" b="1">
                <a:solidFill>
                  <a:srgbClr val="64748B"/>
                </a:solidFill>
              </a:defRPr>
            </a:pPr>
            <a:r>
              <a:t>📍 Slides 7-8</a:t>
            </a:r>
          </a:p>
        </p:txBody>
      </p:sp>
      <p:sp>
        <p:nvSpPr>
          <p:cNvPr id="10" name="Rectangle 9"/>
          <p:cNvSpPr/>
          <p:nvPr/>
        </p:nvSpPr>
        <p:spPr>
          <a:xfrm>
            <a:off x="5120640" y="1645920"/>
            <a:ext cx="2011680" cy="9144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315199" y="1645920"/>
            <a:ext cx="2011680"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D97706"/>
                </a:solidFill>
              </a:defRPr>
            </a:pPr>
            <a:r>
              <a:t>👤 Membre 4</a:t>
            </a:r>
          </a:p>
          <a:p>
            <a:pPr algn="ctr">
              <a:spcBef>
                <a:spcPts val="400"/>
              </a:spcBef>
              <a:defRPr sz="1100" b="1">
                <a:solidFill>
                  <a:srgbClr val="1E3A8A"/>
                </a:solidFill>
              </a:defRPr>
            </a:pPr>
            <a:r>
              <a:t>Frontend &amp; UX</a:t>
            </a:r>
          </a:p>
          <a:p>
            <a:pPr algn="ctr">
              <a:spcBef>
                <a:spcPts val="1200"/>
              </a:spcBef>
              <a:defRPr sz="1000">
                <a:solidFill>
                  <a:srgbClr val="1E293B"/>
                </a:solidFill>
              </a:defRPr>
            </a:pPr>
            <a:r>
              <a:t>Dashboard interactif Streamlit (5 vues), moteur de recommandations tutorales.</a:t>
            </a:r>
          </a:p>
          <a:p>
            <a:pPr algn="ctr">
              <a:spcBef>
                <a:spcPts val="2000"/>
              </a:spcBef>
              <a:defRPr sz="1000" b="1">
                <a:solidFill>
                  <a:srgbClr val="64748B"/>
                </a:solidFill>
              </a:defRPr>
            </a:pPr>
            <a:r>
              <a:t>📍 Slides 9-10</a:t>
            </a:r>
          </a:p>
        </p:txBody>
      </p:sp>
      <p:sp>
        <p:nvSpPr>
          <p:cNvPr id="12" name="Rectangle 11"/>
          <p:cNvSpPr/>
          <p:nvPr/>
        </p:nvSpPr>
        <p:spPr>
          <a:xfrm>
            <a:off x="7315199" y="1645920"/>
            <a:ext cx="2011680" cy="9144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509760" y="1645920"/>
            <a:ext cx="2011680"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DC2626"/>
                </a:solidFill>
              </a:defRPr>
            </a:pPr>
            <a:r>
              <a:t>👤 Membre 5</a:t>
            </a:r>
          </a:p>
          <a:p>
            <a:pPr algn="ctr">
              <a:spcBef>
                <a:spcPts val="400"/>
              </a:spcBef>
              <a:defRPr sz="1100" b="1">
                <a:solidFill>
                  <a:srgbClr val="1E3A8A"/>
                </a:solidFill>
              </a:defRPr>
            </a:pPr>
            <a:r>
              <a:t>DevOps &amp; Qualité</a:t>
            </a:r>
          </a:p>
          <a:p>
            <a:pPr algn="ctr">
              <a:spcBef>
                <a:spcPts val="1200"/>
              </a:spcBef>
              <a:defRPr sz="1000">
                <a:solidFill>
                  <a:srgbClr val="1E293B"/>
                </a:solidFill>
              </a:defRPr>
            </a:pPr>
            <a:r>
              <a:t>13 tests Pytest, conteneurisation Docker, script CLI, cadre éthique &amp; bilan.</a:t>
            </a:r>
          </a:p>
          <a:p>
            <a:pPr algn="ctr">
              <a:spcBef>
                <a:spcPts val="2000"/>
              </a:spcBef>
              <a:defRPr sz="1000" b="1">
                <a:solidFill>
                  <a:srgbClr val="64748B"/>
                </a:solidFill>
              </a:defRPr>
            </a:pPr>
            <a:r>
              <a:t>📍 Slides 11-13</a:t>
            </a:r>
          </a:p>
        </p:txBody>
      </p:sp>
      <p:sp>
        <p:nvSpPr>
          <p:cNvPr id="14" name="Rectangle 13"/>
          <p:cNvSpPr/>
          <p:nvPr/>
        </p:nvSpPr>
        <p:spPr>
          <a:xfrm>
            <a:off x="9509760" y="1645920"/>
            <a:ext cx="2011680" cy="9144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772400" cy="731520"/>
          </a:xfrm>
          <a:prstGeom prst="rect">
            <a:avLst/>
          </a:prstGeom>
          <a:noFill/>
        </p:spPr>
        <p:txBody>
          <a:bodyPr wrap="square" tIns="0" bIns="0" lIns="0" rIns="0">
            <a:spAutoFit/>
          </a:bodyPr>
          <a:lstStyle/>
          <a:p>
            <a:pPr>
              <a:defRPr sz="2400" b="1">
                <a:solidFill>
                  <a:srgbClr val="1E3A8A"/>
                </a:solidFill>
                <a:latin typeface="Segoe UI"/>
              </a:defRPr>
            </a:pPr>
            <a:r>
              <a:t>1. Contexte, Problématique &amp; Démarche Bienveillante</a:t>
            </a:r>
          </a:p>
        </p:txBody>
      </p:sp>
      <p:sp>
        <p:nvSpPr>
          <p:cNvPr id="4" name="Rounded Rectangle 3"/>
          <p:cNvSpPr/>
          <p:nvPr/>
        </p:nvSpPr>
        <p:spPr>
          <a:xfrm>
            <a:off x="8595360" y="365760"/>
            <a:ext cx="2834640" cy="54864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Segoe UI"/>
              </a:defRPr>
            </a:pPr>
            <a:r>
              <a:t>👤 Membre 1 (1 min 30)</a:t>
            </a:r>
          </a:p>
          <a:p>
            <a:pPr algn="ctr">
              <a:defRPr sz="900">
                <a:solidFill>
                  <a:srgbClr val="FFFFFF"/>
                </a:solidFill>
                <a:latin typeface="Segoe UI"/>
              </a:defRPr>
            </a:pPr>
            <a:r>
              <a:t>Chef de Projet &amp; Data Eng.</a:t>
            </a:r>
          </a:p>
        </p:txBody>
      </p:sp>
      <p:sp>
        <p:nvSpPr>
          <p:cNvPr id="5" name="Rounded Rectangle 4"/>
          <p:cNvSpPr/>
          <p:nvPr/>
        </p:nvSpPr>
        <p:spPr>
          <a:xfrm>
            <a:off x="731520" y="1645920"/>
            <a:ext cx="5212080" cy="4114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45920"/>
            <a:ext cx="5212080"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28800"/>
            <a:ext cx="4754880" cy="3794760"/>
          </a:xfrm>
          <a:prstGeom prst="rect">
            <a:avLst/>
          </a:prstGeom>
          <a:noFill/>
        </p:spPr>
        <p:txBody>
          <a:bodyPr wrap="square" tIns="0" bIns="0" lIns="0" rIns="0">
            <a:spAutoFit/>
          </a:bodyPr>
          <a:lstStyle/>
          <a:p>
            <a:pPr>
              <a:defRPr sz="1500" b="1">
                <a:solidFill>
                  <a:srgbClr val="1E3A8A"/>
                </a:solidFill>
                <a:latin typeface="Segoe UI"/>
              </a:defRPr>
            </a:pPr>
            <a:r>
              <a:t>⚠️ Le Constat Traditionnel en E-Learning</a:t>
            </a:r>
          </a:p>
          <a:p>
            <a:pPr>
              <a:spcBef>
                <a:spcPts val="600"/>
              </a:spcBef>
              <a:defRPr sz="1200">
                <a:solidFill>
                  <a:srgbClr val="1E293B"/>
                </a:solidFill>
                <a:latin typeface="Segoe UI"/>
              </a:defRPr>
            </a:pPr>
            <a:r>
              <a:t>• Les décrochages scolaires surviennent souvent en silence.</a:t>
            </a:r>
          </a:p>
          <a:p>
            <a:pPr>
              <a:spcBef>
                <a:spcPts val="600"/>
              </a:spcBef>
              <a:defRPr sz="1200">
                <a:solidFill>
                  <a:srgbClr val="1E293B"/>
                </a:solidFill>
                <a:latin typeface="Segoe UI"/>
              </a:defRPr>
            </a:pPr>
            <a:r>
              <a:t>• Le constat d'échec n'intervient qu'après les examens finaux.</a:t>
            </a:r>
          </a:p>
          <a:p>
            <a:pPr>
              <a:spcBef>
                <a:spcPts val="600"/>
              </a:spcBef>
              <a:defRPr sz="1200">
                <a:solidFill>
                  <a:srgbClr val="1E293B"/>
                </a:solidFill>
                <a:latin typeface="Segoe UI"/>
              </a:defRPr>
            </a:pPr>
            <a:r>
              <a:t>• Il est alors trop tard pour mettre en place une remédiation.</a:t>
            </a:r>
          </a:p>
          <a:p>
            <a:pPr>
              <a:spcBef>
                <a:spcPts val="600"/>
              </a:spcBef>
              <a:defRPr sz="1200">
                <a:solidFill>
                  <a:srgbClr val="1E293B"/>
                </a:solidFill>
                <a:latin typeface="Segoe UI"/>
              </a:defRPr>
            </a:pPr>
            <a:r>
              <a:t>• Sentiment d'isolement des étudiants face aux plateformes à distance.</a:t>
            </a:r>
          </a:p>
          <a:p>
            <a:pPr>
              <a:spcBef>
                <a:spcPts val="600"/>
              </a:spcBef>
              <a:defRPr sz="1200">
                <a:solidFill>
                  <a:srgbClr val="1E293B"/>
                </a:solidFill>
                <a:latin typeface="Segoe UI"/>
              </a:defRPr>
            </a:pPr>
            <a:r>
              <a:t>• Nécessité critique d'un système d'alerte anticipé.</a:t>
            </a:r>
          </a:p>
        </p:txBody>
      </p:sp>
      <p:sp>
        <p:nvSpPr>
          <p:cNvPr id="8" name="Rounded Rectangle 7"/>
          <p:cNvSpPr/>
          <p:nvPr/>
        </p:nvSpPr>
        <p:spPr>
          <a:xfrm>
            <a:off x="6217920" y="1645920"/>
            <a:ext cx="5212080" cy="4114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17920" y="1645920"/>
            <a:ext cx="5212080"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828800"/>
            <a:ext cx="4754880" cy="3794760"/>
          </a:xfrm>
          <a:prstGeom prst="rect">
            <a:avLst/>
          </a:prstGeom>
          <a:noFill/>
        </p:spPr>
        <p:txBody>
          <a:bodyPr wrap="square" tIns="0" bIns="0" lIns="0" rIns="0">
            <a:spAutoFit/>
          </a:bodyPr>
          <a:lstStyle/>
          <a:p>
            <a:pPr>
              <a:defRPr sz="1500" b="1">
                <a:solidFill>
                  <a:srgbClr val="1E3A8A"/>
                </a:solidFill>
                <a:latin typeface="Segoe UI"/>
              </a:defRPr>
            </a:pPr>
            <a:r>
              <a:t>🎯 La Réponse EduAccess &amp; Éthique</a:t>
            </a:r>
          </a:p>
          <a:p>
            <a:pPr>
              <a:spcBef>
                <a:spcPts val="600"/>
              </a:spcBef>
              <a:defRPr sz="1200">
                <a:solidFill>
                  <a:srgbClr val="1E293B"/>
                </a:solidFill>
                <a:latin typeface="Segoe UI"/>
              </a:defRPr>
            </a:pPr>
            <a:r>
              <a:t>• Exploiter les traces d'apprentissage dès les 30 à 60 premiers jours.</a:t>
            </a:r>
          </a:p>
          <a:p>
            <a:pPr>
              <a:spcBef>
                <a:spcPts val="600"/>
              </a:spcBef>
              <a:defRPr sz="1200">
                <a:solidFill>
                  <a:srgbClr val="1E293B"/>
                </a:solidFill>
                <a:latin typeface="Segoe UI"/>
              </a:defRPr>
            </a:pPr>
            <a:r>
              <a:t>• Détecter les signaux faibles (baisse de clics, retards aux premiers devoirs).</a:t>
            </a:r>
          </a:p>
          <a:p>
            <a:pPr>
              <a:spcBef>
                <a:spcPts val="600"/>
              </a:spcBef>
              <a:defRPr sz="1200">
                <a:solidFill>
                  <a:srgbClr val="1E293B"/>
                </a:solidFill>
                <a:latin typeface="Segoe UI"/>
              </a:defRPr>
            </a:pPr>
            <a:r>
              <a:t>• Aide à la décision : L'outil assiste le tuteur sans jamais le remplacer.</a:t>
            </a:r>
          </a:p>
          <a:p>
            <a:pPr>
              <a:spcBef>
                <a:spcPts val="600"/>
              </a:spcBef>
              <a:defRPr sz="1200">
                <a:solidFill>
                  <a:srgbClr val="1E293B"/>
                </a:solidFill>
                <a:latin typeface="Segoe UI"/>
              </a:defRPr>
            </a:pPr>
            <a:r>
              <a:t>• Principe de Bienveillance : Aucune sanction ou exclusion automatique.</a:t>
            </a:r>
          </a:p>
          <a:p>
            <a:pPr>
              <a:spcBef>
                <a:spcPts val="600"/>
              </a:spcBef>
              <a:defRPr sz="1200">
                <a:solidFill>
                  <a:srgbClr val="1E293B"/>
                </a:solidFill>
                <a:latin typeface="Segoe UI"/>
              </a:defRPr>
            </a:pPr>
            <a:r>
              <a:t>• Génération de plans d'accompagnement humain individualisés.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772400" cy="731520"/>
          </a:xfrm>
          <a:prstGeom prst="rect">
            <a:avLst/>
          </a:prstGeom>
          <a:noFill/>
        </p:spPr>
        <p:txBody>
          <a:bodyPr wrap="square" tIns="0" bIns="0" lIns="0" rIns="0">
            <a:spAutoFit/>
          </a:bodyPr>
          <a:lstStyle/>
          <a:p>
            <a:pPr>
              <a:defRPr sz="2400" b="1">
                <a:solidFill>
                  <a:srgbClr val="1E3A8A"/>
                </a:solidFill>
                <a:latin typeface="Segoe UI"/>
              </a:defRPr>
            </a:pPr>
            <a:r>
              <a:t>2. Données OULAD &amp; Défi Big Data de Volumétrie</a:t>
            </a:r>
          </a:p>
        </p:txBody>
      </p:sp>
      <p:sp>
        <p:nvSpPr>
          <p:cNvPr id="4" name="Rounded Rectangle 3"/>
          <p:cNvSpPr/>
          <p:nvPr/>
        </p:nvSpPr>
        <p:spPr>
          <a:xfrm>
            <a:off x="8595360" y="365760"/>
            <a:ext cx="2834640" cy="54864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Segoe UI"/>
              </a:defRPr>
            </a:pPr>
            <a:r>
              <a:t>👤 Membre 1 (2 min)</a:t>
            </a:r>
          </a:p>
          <a:p>
            <a:pPr algn="ctr">
              <a:defRPr sz="900">
                <a:solidFill>
                  <a:srgbClr val="FFFFFF"/>
                </a:solidFill>
                <a:latin typeface="Segoe UI"/>
              </a:defRPr>
            </a:pPr>
            <a:r>
              <a:t>Chef de Projet &amp; Data Eng.</a:t>
            </a:r>
          </a:p>
        </p:txBody>
      </p:sp>
      <p:sp>
        <p:nvSpPr>
          <p:cNvPr id="5" name="Rounded Rectangle 4"/>
          <p:cNvSpPr/>
          <p:nvPr/>
        </p:nvSpPr>
        <p:spPr>
          <a:xfrm>
            <a:off x="731520" y="1645920"/>
            <a:ext cx="3291840"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45920"/>
            <a:ext cx="3291840"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28800"/>
            <a:ext cx="2834640" cy="1965960"/>
          </a:xfrm>
          <a:prstGeom prst="rect">
            <a:avLst/>
          </a:prstGeom>
          <a:noFill/>
        </p:spPr>
        <p:txBody>
          <a:bodyPr wrap="square" tIns="0" bIns="0" lIns="0" rIns="0">
            <a:spAutoFit/>
          </a:bodyPr>
          <a:lstStyle/>
          <a:p>
            <a:pPr>
              <a:defRPr sz="1500" b="1">
                <a:solidFill>
                  <a:srgbClr val="1E3A8A"/>
                </a:solidFill>
                <a:latin typeface="Segoe UI"/>
              </a:defRPr>
            </a:pPr>
            <a:r>
              <a:t>👥 32 593 Étudiants</a:t>
            </a:r>
          </a:p>
          <a:p>
            <a:pPr>
              <a:spcBef>
                <a:spcPts val="600"/>
              </a:spcBef>
              <a:defRPr sz="1200">
                <a:solidFill>
                  <a:srgbClr val="1E293B"/>
                </a:solidFill>
                <a:latin typeface="Segoe UI"/>
              </a:defRPr>
            </a:pPr>
            <a:r>
              <a:t>• 22 sessions de cours (AAA à GGG).</a:t>
            </a:r>
          </a:p>
          <a:p>
            <a:pPr>
              <a:spcBef>
                <a:spcPts val="600"/>
              </a:spcBef>
              <a:defRPr sz="1200">
                <a:solidFill>
                  <a:srgbClr val="1E293B"/>
                </a:solidFill>
                <a:latin typeface="Segoe UI"/>
              </a:defRPr>
            </a:pPr>
            <a:r>
              <a:t>• Données sociodémographiques.</a:t>
            </a:r>
          </a:p>
          <a:p>
            <a:pPr>
              <a:spcBef>
                <a:spcPts val="600"/>
              </a:spcBef>
              <a:defRPr sz="1200">
                <a:solidFill>
                  <a:srgbClr val="1E293B"/>
                </a:solidFill>
                <a:latin typeface="Segoe UI"/>
              </a:defRPr>
            </a:pPr>
            <a:r>
              <a:t>• Charge de crédits et inscriptions.</a:t>
            </a:r>
          </a:p>
        </p:txBody>
      </p:sp>
      <p:sp>
        <p:nvSpPr>
          <p:cNvPr id="8" name="Rounded Rectangle 7"/>
          <p:cNvSpPr/>
          <p:nvPr/>
        </p:nvSpPr>
        <p:spPr>
          <a:xfrm>
            <a:off x="4389120" y="1645920"/>
            <a:ext cx="3291840"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89120" y="1645920"/>
            <a:ext cx="3291840"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17720" y="1828800"/>
            <a:ext cx="2834640" cy="1965960"/>
          </a:xfrm>
          <a:prstGeom prst="rect">
            <a:avLst/>
          </a:prstGeom>
          <a:noFill/>
        </p:spPr>
        <p:txBody>
          <a:bodyPr wrap="square" tIns="0" bIns="0" lIns="0" rIns="0">
            <a:spAutoFit/>
          </a:bodyPr>
          <a:lstStyle/>
          <a:p>
            <a:pPr>
              <a:defRPr sz="1500" b="1">
                <a:solidFill>
                  <a:srgbClr val="1E3A8A"/>
                </a:solidFill>
                <a:latin typeface="Segoe UI"/>
              </a:defRPr>
            </a:pPr>
            <a:r>
              <a:t>💻 10.6M d'Interactions VLE</a:t>
            </a:r>
          </a:p>
          <a:p>
            <a:pPr>
              <a:spcBef>
                <a:spcPts val="600"/>
              </a:spcBef>
              <a:defRPr sz="1200">
                <a:solidFill>
                  <a:srgbClr val="1E293B"/>
                </a:solidFill>
                <a:latin typeface="Segoe UI"/>
              </a:defRPr>
            </a:pPr>
            <a:r>
              <a:t>• Fichier studentVle.csv (453 Mo).</a:t>
            </a:r>
          </a:p>
          <a:p>
            <a:pPr>
              <a:spcBef>
                <a:spcPts val="600"/>
              </a:spcBef>
              <a:defRPr sz="1200">
                <a:solidFill>
                  <a:srgbClr val="1E293B"/>
                </a:solidFill>
                <a:latin typeface="Segoe UI"/>
              </a:defRPr>
            </a:pPr>
            <a:r>
              <a:t>• Journal quotidien de chaque clic.</a:t>
            </a:r>
          </a:p>
          <a:p>
            <a:pPr>
              <a:spcBef>
                <a:spcPts val="600"/>
              </a:spcBef>
              <a:defRPr sz="1200">
                <a:solidFill>
                  <a:srgbClr val="1E293B"/>
                </a:solidFill>
                <a:latin typeface="Segoe UI"/>
              </a:defRPr>
            </a:pPr>
            <a:r>
              <a:t>• Défi majeur de mémoire vive (RAM).</a:t>
            </a:r>
          </a:p>
        </p:txBody>
      </p:sp>
      <p:sp>
        <p:nvSpPr>
          <p:cNvPr id="11" name="Rounded Rectangle 10"/>
          <p:cNvSpPr/>
          <p:nvPr/>
        </p:nvSpPr>
        <p:spPr>
          <a:xfrm>
            <a:off x="8046720" y="1645920"/>
            <a:ext cx="3291840"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046720" y="1645920"/>
            <a:ext cx="3291840"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75320" y="1828800"/>
            <a:ext cx="2834640" cy="1965960"/>
          </a:xfrm>
          <a:prstGeom prst="rect">
            <a:avLst/>
          </a:prstGeom>
          <a:noFill/>
        </p:spPr>
        <p:txBody>
          <a:bodyPr wrap="square" tIns="0" bIns="0" lIns="0" rIns="0">
            <a:spAutoFit/>
          </a:bodyPr>
          <a:lstStyle/>
          <a:p>
            <a:pPr>
              <a:defRPr sz="1500" b="1">
                <a:solidFill>
                  <a:srgbClr val="1E3A8A"/>
                </a:solidFill>
                <a:latin typeface="Segoe UI"/>
              </a:defRPr>
            </a:pPr>
            <a:r>
              <a:t>📝 173 912 Évaluations</a:t>
            </a:r>
          </a:p>
          <a:p>
            <a:pPr>
              <a:spcBef>
                <a:spcPts val="600"/>
              </a:spcBef>
              <a:defRPr sz="1200">
                <a:solidFill>
                  <a:srgbClr val="1E293B"/>
                </a:solidFill>
                <a:latin typeface="Segoe UI"/>
              </a:defRPr>
            </a:pPr>
            <a:r>
              <a:t>• Devoirs continus (TMA/CMA) &amp; examens.</a:t>
            </a:r>
          </a:p>
          <a:p>
            <a:pPr>
              <a:spcBef>
                <a:spcPts val="600"/>
              </a:spcBef>
              <a:defRPr sz="1200">
                <a:solidFill>
                  <a:srgbClr val="1E293B"/>
                </a:solidFill>
                <a:latin typeface="Segoe UI"/>
              </a:defRPr>
            </a:pPr>
            <a:r>
              <a:t>• Notes obtenues et dates de soumission.</a:t>
            </a:r>
          </a:p>
          <a:p>
            <a:pPr>
              <a:spcBef>
                <a:spcPts val="600"/>
              </a:spcBef>
              <a:defRPr sz="1200">
                <a:solidFill>
                  <a:srgbClr val="1E293B"/>
                </a:solidFill>
                <a:latin typeface="Segoe UI"/>
              </a:defRPr>
            </a:pPr>
            <a:r>
              <a:t>• Détection des retards de rendu.</a:t>
            </a:r>
          </a:p>
        </p:txBody>
      </p:sp>
      <p:sp>
        <p:nvSpPr>
          <p:cNvPr id="14" name="Rounded Rectangle 13"/>
          <p:cNvSpPr/>
          <p:nvPr/>
        </p:nvSpPr>
        <p:spPr>
          <a:xfrm>
            <a:off x="731520" y="4206240"/>
            <a:ext cx="10607040" cy="1828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4206240"/>
            <a:ext cx="10607040" cy="7315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4389120"/>
            <a:ext cx="10149840" cy="1508760"/>
          </a:xfrm>
          <a:prstGeom prst="rect">
            <a:avLst/>
          </a:prstGeom>
          <a:noFill/>
        </p:spPr>
        <p:txBody>
          <a:bodyPr wrap="square" tIns="0" bIns="0" lIns="0" rIns="0">
            <a:spAutoFit/>
          </a:bodyPr>
          <a:lstStyle/>
          <a:p>
            <a:pPr>
              <a:defRPr sz="1500" b="1">
                <a:solidFill>
                  <a:srgbClr val="1E3A8A"/>
                </a:solidFill>
                <a:latin typeface="Segoe UI"/>
              </a:defRPr>
            </a:pPr>
            <a:r>
              <a:t>⚡ Pipeline ETL Optimisé par Morceaux (src/data_loader.py)</a:t>
            </a:r>
          </a:p>
          <a:p>
            <a:pPr>
              <a:spcBef>
                <a:spcPts val="600"/>
              </a:spcBef>
              <a:defRPr sz="1200">
                <a:solidFill>
                  <a:srgbClr val="1E293B"/>
                </a:solidFill>
                <a:latin typeface="Segoe UI"/>
              </a:defRPr>
            </a:pPr>
            <a:r>
              <a:t>• Traitement par chunks de 1 000 000 lignes avec Pandas pour ne jamais saturer la RAM.</a:t>
            </a:r>
          </a:p>
          <a:p>
            <a:pPr>
              <a:spcBef>
                <a:spcPts val="600"/>
              </a:spcBef>
              <a:defRPr sz="1200">
                <a:solidFill>
                  <a:srgbClr val="1E293B"/>
                </a:solidFill>
                <a:latin typeface="Segoe UI"/>
              </a:defRPr>
            </a:pPr>
            <a:r>
              <a:t>• Agrégation des clics avant rentrée (date &lt; 0), clics à 30 jours et jours actifs en moins de 6 secondes.</a:t>
            </a:r>
          </a:p>
          <a:p>
            <a:pPr>
              <a:spcBef>
                <a:spcPts val="600"/>
              </a:spcBef>
              <a:defRPr sz="1200">
                <a:solidFill>
                  <a:srgbClr val="1E293B"/>
                </a:solidFill>
                <a:latin typeface="Segoe UI"/>
              </a:defRPr>
            </a:pPr>
            <a:r>
              <a:t>• Dataset unifié généré : data/processed_students.csv (32 593 lignes x 26 colonnes).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772400" cy="731520"/>
          </a:xfrm>
          <a:prstGeom prst="rect">
            <a:avLst/>
          </a:prstGeom>
          <a:noFill/>
        </p:spPr>
        <p:txBody>
          <a:bodyPr wrap="square" tIns="0" bIns="0" lIns="0" rIns="0">
            <a:spAutoFit/>
          </a:bodyPr>
          <a:lstStyle/>
          <a:p>
            <a:pPr>
              <a:defRPr sz="2400" b="1">
                <a:solidFill>
                  <a:srgbClr val="1E3A8A"/>
                </a:solidFill>
                <a:latin typeface="Segoe UI"/>
              </a:defRPr>
            </a:pPr>
            <a:r>
              <a:t>3. Feature Engineering &amp; Prévention du Data Leakage</a:t>
            </a:r>
          </a:p>
        </p:txBody>
      </p:sp>
      <p:sp>
        <p:nvSpPr>
          <p:cNvPr id="4" name="Rounded Rectangle 3"/>
          <p:cNvSpPr/>
          <p:nvPr/>
        </p:nvSpPr>
        <p:spPr>
          <a:xfrm>
            <a:off x="8595360" y="365760"/>
            <a:ext cx="2834640" cy="548640"/>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Segoe UI"/>
              </a:defRPr>
            </a:pPr>
            <a:r>
              <a:t>👤 Membre 2 (2 min)</a:t>
            </a:r>
          </a:p>
          <a:p>
            <a:pPr algn="ctr">
              <a:defRPr sz="900">
                <a:solidFill>
                  <a:srgbClr val="FFFFFF"/>
                </a:solidFill>
                <a:latin typeface="Segoe UI"/>
              </a:defRPr>
            </a:pPr>
            <a:r>
              <a:t>Lead Data Scientist</a:t>
            </a:r>
          </a:p>
        </p:txBody>
      </p:sp>
      <p:sp>
        <p:nvSpPr>
          <p:cNvPr id="5" name="Rounded Rectangle 4"/>
          <p:cNvSpPr/>
          <p:nvPr/>
        </p:nvSpPr>
        <p:spPr>
          <a:xfrm>
            <a:off x="731520" y="1645920"/>
            <a:ext cx="521208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45920"/>
            <a:ext cx="5212080" cy="731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28800"/>
            <a:ext cx="4754880" cy="4069080"/>
          </a:xfrm>
          <a:prstGeom prst="rect">
            <a:avLst/>
          </a:prstGeom>
          <a:noFill/>
        </p:spPr>
        <p:txBody>
          <a:bodyPr wrap="square" tIns="0" bIns="0" lIns="0" rIns="0">
            <a:spAutoFit/>
          </a:bodyPr>
          <a:lstStyle/>
          <a:p>
            <a:pPr>
              <a:defRPr sz="1500" b="1">
                <a:solidFill>
                  <a:srgbClr val="1E3A8A"/>
                </a:solidFill>
                <a:latin typeface="Segoe UI"/>
              </a:defRPr>
            </a:pPr>
            <a:r>
              <a:t>🔍 22 Variables Extraites (src/feature_engineering.py)</a:t>
            </a:r>
          </a:p>
          <a:p>
            <a:pPr>
              <a:spcBef>
                <a:spcPts val="600"/>
              </a:spcBef>
              <a:defRPr sz="1200">
                <a:solidFill>
                  <a:srgbClr val="1E293B"/>
                </a:solidFill>
                <a:latin typeface="Segoe UI"/>
              </a:defRPr>
            </a:pPr>
            <a:r>
              <a:t>• Engagement VLE Précoce : pre_course_clicks, early_30_clicks, active_days, total_clicks.</a:t>
            </a:r>
          </a:p>
          <a:p>
            <a:pPr>
              <a:spcBef>
                <a:spcPts val="600"/>
              </a:spcBef>
              <a:defRPr sz="1200">
                <a:solidFill>
                  <a:srgbClr val="1E293B"/>
                </a:solidFill>
                <a:latin typeface="Segoe UI"/>
              </a:defRPr>
            </a:pPr>
            <a:r>
              <a:t>• Dynamique d'Évaluation : early_assessments_count, early_avg_score, early_late_submissions, failed_assessments_count.</a:t>
            </a:r>
          </a:p>
          <a:p>
            <a:pPr>
              <a:spcBef>
                <a:spcPts val="600"/>
              </a:spcBef>
              <a:defRPr sz="1200">
                <a:solidFill>
                  <a:srgbClr val="1E293B"/>
                </a:solidFill>
                <a:latin typeface="Segoe UI"/>
              </a:defRPr>
            </a:pPr>
            <a:r>
              <a:t>• Contexte Étudiant : date_registration, studied_credits, num_of_prev_attempts, highest_education, imd_band.</a:t>
            </a:r>
          </a:p>
          <a:p>
            <a:pPr>
              <a:spcBef>
                <a:spcPts val="600"/>
              </a:spcBef>
              <a:defRPr sz="1200">
                <a:solidFill>
                  <a:srgbClr val="1E293B"/>
                </a:solidFill>
                <a:latin typeface="Segoe UI"/>
              </a:defRPr>
            </a:pPr>
            <a:r>
              <a:t>• Pipeline Scikit-Learn : Imputation médiane/mode + OneHotEncoder + RobustScaler.</a:t>
            </a:r>
          </a:p>
        </p:txBody>
      </p:sp>
      <p:sp>
        <p:nvSpPr>
          <p:cNvPr id="8" name="Rounded Rectangle 7"/>
          <p:cNvSpPr/>
          <p:nvPr/>
        </p:nvSpPr>
        <p:spPr>
          <a:xfrm>
            <a:off x="6217920" y="1645920"/>
            <a:ext cx="521208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17920" y="1645920"/>
            <a:ext cx="5212080" cy="7315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828800"/>
            <a:ext cx="4754880" cy="4069080"/>
          </a:xfrm>
          <a:prstGeom prst="rect">
            <a:avLst/>
          </a:prstGeom>
          <a:noFill/>
        </p:spPr>
        <p:txBody>
          <a:bodyPr wrap="square" tIns="0" bIns="0" lIns="0" rIns="0">
            <a:spAutoFit/>
          </a:bodyPr>
          <a:lstStyle/>
          <a:p>
            <a:pPr>
              <a:defRPr sz="1500" b="1">
                <a:solidFill>
                  <a:srgbClr val="1E3A8A"/>
                </a:solidFill>
                <a:latin typeface="Segoe UI"/>
              </a:defRPr>
            </a:pPr>
            <a:r>
              <a:t>🚫 Règle Anti-Leakage &amp; Cible Équilibrée</a:t>
            </a:r>
          </a:p>
          <a:p>
            <a:pPr>
              <a:spcBef>
                <a:spcPts val="600"/>
              </a:spcBef>
              <a:defRPr sz="1200">
                <a:solidFill>
                  <a:srgbClr val="1E293B"/>
                </a:solidFill>
                <a:latin typeface="Segoe UI"/>
              </a:defRPr>
            </a:pPr>
            <a:r>
              <a:t>• Bannissement strict de date_unregistration : Sa simple présence introduirait une fuite d'information évidente (100% de corrélation avec l'abandon).</a:t>
            </a:r>
          </a:p>
          <a:p>
            <a:pPr>
              <a:spcBef>
                <a:spcPts val="600"/>
              </a:spcBef>
              <a:defRPr sz="1200">
                <a:solidFill>
                  <a:srgbClr val="1E293B"/>
                </a:solidFill>
                <a:latin typeface="Segoe UI"/>
              </a:defRPr>
            </a:pPr>
            <a:r>
              <a:t>• Cible Binaire Équilibrée (Target) :</a:t>
            </a:r>
          </a:p>
          <a:p>
            <a:pPr>
              <a:spcBef>
                <a:spcPts val="600"/>
              </a:spcBef>
              <a:defRPr sz="1200">
                <a:solidFill>
                  <a:srgbClr val="1E293B"/>
                </a:solidFill>
                <a:latin typeface="Segoe UI"/>
              </a:defRPr>
            </a:pPr>
            <a:r>
              <a:t>•   • 1 (À Risque : Échec / Abandon) = 52.8%</a:t>
            </a:r>
          </a:p>
          <a:p>
            <a:pPr>
              <a:spcBef>
                <a:spcPts val="600"/>
              </a:spcBef>
              <a:defRPr sz="1200">
                <a:solidFill>
                  <a:srgbClr val="1E293B"/>
                </a:solidFill>
                <a:latin typeface="Segoe UI"/>
              </a:defRPr>
            </a:pPr>
            <a:r>
              <a:t>•   • 0 (En Réussite : Pass / Distinction) = 47.2%</a:t>
            </a:r>
          </a:p>
          <a:p>
            <a:pPr>
              <a:spcBef>
                <a:spcPts val="600"/>
              </a:spcBef>
              <a:defRPr sz="1200">
                <a:solidFill>
                  <a:srgbClr val="1E293B"/>
                </a:solidFill>
                <a:latin typeface="Segoe UI"/>
              </a:defRPr>
            </a:pPr>
            <a:r>
              <a:t>• Pas de problème de déséquilibre de classe : Métriques fiables sans suréchantillonnage artificiel.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772400" cy="731520"/>
          </a:xfrm>
          <a:prstGeom prst="rect">
            <a:avLst/>
          </a:prstGeom>
          <a:noFill/>
        </p:spPr>
        <p:txBody>
          <a:bodyPr wrap="square" tIns="0" bIns="0" lIns="0" rIns="0">
            <a:spAutoFit/>
          </a:bodyPr>
          <a:lstStyle/>
          <a:p>
            <a:pPr>
              <a:defRPr sz="2400" b="1">
                <a:solidFill>
                  <a:srgbClr val="1E3A8A"/>
                </a:solidFill>
                <a:latin typeface="Segoe UI"/>
              </a:defRPr>
            </a:pPr>
            <a:r>
              <a:t>4. Benchmark &amp; Sélection du Meilleur Modèle ML</a:t>
            </a:r>
          </a:p>
        </p:txBody>
      </p:sp>
      <p:sp>
        <p:nvSpPr>
          <p:cNvPr id="4" name="Rounded Rectangle 3"/>
          <p:cNvSpPr/>
          <p:nvPr/>
        </p:nvSpPr>
        <p:spPr>
          <a:xfrm>
            <a:off x="8595360" y="365760"/>
            <a:ext cx="2834640" cy="548640"/>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Segoe UI"/>
              </a:defRPr>
            </a:pPr>
            <a:r>
              <a:t>👤 Membre 2 (2 min)</a:t>
            </a:r>
          </a:p>
          <a:p>
            <a:pPr algn="ctr">
              <a:defRPr sz="900">
                <a:solidFill>
                  <a:srgbClr val="FFFFFF"/>
                </a:solidFill>
                <a:latin typeface="Segoe UI"/>
              </a:defRPr>
            </a:pPr>
            <a:r>
              <a:t>Lead Data Scientist</a:t>
            </a:r>
          </a:p>
        </p:txBody>
      </p:sp>
      <p:sp>
        <p:nvSpPr>
          <p:cNvPr id="5" name="Rounded Rectangle 4"/>
          <p:cNvSpPr/>
          <p:nvPr/>
        </p:nvSpPr>
        <p:spPr>
          <a:xfrm>
            <a:off x="731520" y="1645920"/>
            <a:ext cx="10607040" cy="2468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45920"/>
            <a:ext cx="10607040" cy="731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28800"/>
            <a:ext cx="10149840" cy="2148840"/>
          </a:xfrm>
          <a:prstGeom prst="rect">
            <a:avLst/>
          </a:prstGeom>
          <a:noFill/>
        </p:spPr>
        <p:txBody>
          <a:bodyPr wrap="square" tIns="0" bIns="0" lIns="0" rIns="0">
            <a:spAutoFit/>
          </a:bodyPr>
          <a:lstStyle/>
          <a:p>
            <a:pPr>
              <a:defRPr sz="1500" b="1">
                <a:solidFill>
                  <a:srgbClr val="1E3A8A"/>
                </a:solidFill>
                <a:latin typeface="Segoe UI"/>
              </a:defRPr>
            </a:pPr>
            <a:r>
              <a:t>📊 Résultats Comparatifs en Validation Croisée Stratifiée (5-Folds)</a:t>
            </a:r>
          </a:p>
          <a:p>
            <a:pPr>
              <a:spcBef>
                <a:spcPts val="600"/>
              </a:spcBef>
              <a:defRPr sz="1200">
                <a:solidFill>
                  <a:srgbClr val="1E293B"/>
                </a:solidFill>
                <a:latin typeface="Segoe UI"/>
              </a:defRPr>
            </a:pPr>
            <a:r>
              <a:t>• Régression Logistique (Baseline) : Accuracy 92.77% | Précision 95.64% | Rappel 90.44% | F1 92.97% | ROC-AUC 0.9735</a:t>
            </a:r>
          </a:p>
          <a:p>
            <a:pPr>
              <a:spcBef>
                <a:spcPts val="600"/>
              </a:spcBef>
              <a:defRPr sz="1200">
                <a:solidFill>
                  <a:srgbClr val="1E293B"/>
                </a:solidFill>
                <a:latin typeface="Segoe UI"/>
              </a:defRPr>
            </a:pPr>
            <a:r>
              <a:t>• Random Forest (Bagging 100 arbres) : Accuracy 92.39% | Précision 95.88% | Rappel 89.37% | F1 92.51% | ROC-AUC 0.9787</a:t>
            </a:r>
          </a:p>
          <a:p>
            <a:pPr>
              <a:spcBef>
                <a:spcPts val="600"/>
              </a:spcBef>
              <a:defRPr sz="1200">
                <a:solidFill>
                  <a:srgbClr val="1E293B"/>
                </a:solidFill>
                <a:latin typeface="Segoe UI"/>
              </a:defRPr>
            </a:pPr>
            <a:r>
              <a:t>• 🏆 HistGradientBoosting (Retenu) : Accuracy 93.04% | Précision 95.88% | Rappel 90.70% | F1 93.22% | ROC-AUC 0.9812</a:t>
            </a:r>
          </a:p>
          <a:p>
            <a:pPr>
              <a:spcBef>
                <a:spcPts val="600"/>
              </a:spcBef>
              <a:defRPr sz="1200">
                <a:solidFill>
                  <a:srgbClr val="1E293B"/>
                </a:solidFill>
                <a:latin typeface="Segoe UI"/>
              </a:defRPr>
            </a:pPr>
            <a:r>
              <a:t>• Justification : Le Gradient Boosting offre la meilleure discrimination avec un F1 de 93.22% et une excellente précision de 95.88% évitant de submerger les tuteurs de fausses alertes.</a:t>
            </a:r>
          </a:p>
        </p:txBody>
      </p:sp>
      <p:sp>
        <p:nvSpPr>
          <p:cNvPr id="8" name="Rounded Rectangle 7"/>
          <p:cNvSpPr/>
          <p:nvPr/>
        </p:nvSpPr>
        <p:spPr>
          <a:xfrm>
            <a:off x="731520" y="4297680"/>
            <a:ext cx="10607040" cy="17373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4297680"/>
            <a:ext cx="10607040" cy="7315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4480560"/>
            <a:ext cx="10149840" cy="1417319"/>
          </a:xfrm>
          <a:prstGeom prst="rect">
            <a:avLst/>
          </a:prstGeom>
          <a:noFill/>
        </p:spPr>
        <p:txBody>
          <a:bodyPr wrap="square" tIns="0" bIns="0" lIns="0" rIns="0">
            <a:spAutoFit/>
          </a:bodyPr>
          <a:lstStyle/>
          <a:p>
            <a:pPr>
              <a:defRPr sz="1500" b="1">
                <a:solidFill>
                  <a:srgbClr val="1E3A8A"/>
                </a:solidFill>
                <a:latin typeface="Segoe UI"/>
              </a:defRPr>
            </a:pPr>
            <a:r>
              <a:t>🔍 Facteurs Déterminants (Permutation Feature Importance)</a:t>
            </a:r>
          </a:p>
          <a:p>
            <a:pPr>
              <a:spcBef>
                <a:spcPts val="600"/>
              </a:spcBef>
              <a:defRPr sz="1200">
                <a:solidFill>
                  <a:srgbClr val="1E293B"/>
                </a:solidFill>
                <a:latin typeface="Segoe UI"/>
              </a:defRPr>
            </a:pPr>
            <a:r>
              <a:t>• 1. early_avg_score : Les notes obtenues aux devoirs initiaux sont le 1er signal de maîtrise.</a:t>
            </a:r>
          </a:p>
          <a:p>
            <a:pPr>
              <a:spcBef>
                <a:spcPts val="600"/>
              </a:spcBef>
              <a:defRPr sz="1200">
                <a:solidFill>
                  <a:srgbClr val="1E293B"/>
                </a:solidFill>
                <a:latin typeface="Segoe UI"/>
              </a:defRPr>
            </a:pPr>
            <a:r>
              <a:t>• 2. early_30_clicks : Le volume de connexions au VLE dans le 1er mois reflète l'assiduité réelle.</a:t>
            </a:r>
          </a:p>
          <a:p>
            <a:pPr>
              <a:spcBef>
                <a:spcPts val="600"/>
              </a:spcBef>
              <a:defRPr sz="1200">
                <a:solidFill>
                  <a:srgbClr val="1E293B"/>
                </a:solidFill>
                <a:latin typeface="Segoe UI"/>
              </a:defRPr>
            </a:pPr>
            <a:r>
              <a:t>• 3. failed_assessments_count &amp; late_submissions_count : Révélateurs de décrochage organisationnel.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772400" cy="731520"/>
          </a:xfrm>
          <a:prstGeom prst="rect">
            <a:avLst/>
          </a:prstGeom>
          <a:noFill/>
        </p:spPr>
        <p:txBody>
          <a:bodyPr wrap="square" tIns="0" bIns="0" lIns="0" rIns="0">
            <a:spAutoFit/>
          </a:bodyPr>
          <a:lstStyle/>
          <a:p>
            <a:pPr>
              <a:defRPr sz="2400" b="1">
                <a:solidFill>
                  <a:srgbClr val="1E3A8A"/>
                </a:solidFill>
                <a:latin typeface="Segoe UI"/>
              </a:defRPr>
            </a:pPr>
            <a:r>
              <a:t>5. Architecture Système Globale &amp; Modulaire</a:t>
            </a:r>
          </a:p>
        </p:txBody>
      </p:sp>
      <p:sp>
        <p:nvSpPr>
          <p:cNvPr id="4" name="Rounded Rectangle 3"/>
          <p:cNvSpPr/>
          <p:nvPr/>
        </p:nvSpPr>
        <p:spPr>
          <a:xfrm>
            <a:off x="8595360" y="365760"/>
            <a:ext cx="2834640" cy="54864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Segoe UI"/>
              </a:defRPr>
            </a:pPr>
            <a:r>
              <a:t>👤 Membre 3 (1 min 30)</a:t>
            </a:r>
          </a:p>
          <a:p>
            <a:pPr algn="ctr">
              <a:defRPr sz="900">
                <a:solidFill>
                  <a:srgbClr val="FFFFFF"/>
                </a:solidFill>
                <a:latin typeface="Segoe UI"/>
              </a:defRPr>
            </a:pPr>
            <a:r>
              <a:t>Ingénieur Backend &amp; API</a:t>
            </a:r>
          </a:p>
        </p:txBody>
      </p:sp>
      <p:sp>
        <p:nvSpPr>
          <p:cNvPr id="5" name="Rounded Rectangle 4"/>
          <p:cNvSpPr/>
          <p:nvPr/>
        </p:nvSpPr>
        <p:spPr>
          <a:xfrm>
            <a:off x="731520" y="1645920"/>
            <a:ext cx="329184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45920"/>
            <a:ext cx="3291840"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28800"/>
            <a:ext cx="2834640" cy="4069080"/>
          </a:xfrm>
          <a:prstGeom prst="rect">
            <a:avLst/>
          </a:prstGeom>
          <a:noFill/>
        </p:spPr>
        <p:txBody>
          <a:bodyPr wrap="square" tIns="0" bIns="0" lIns="0" rIns="0">
            <a:spAutoFit/>
          </a:bodyPr>
          <a:lstStyle/>
          <a:p>
            <a:pPr>
              <a:defRPr sz="1500" b="1">
                <a:solidFill>
                  <a:srgbClr val="1E3A8A"/>
                </a:solidFill>
                <a:latin typeface="Segoe UI"/>
              </a:defRPr>
            </a:pPr>
            <a:r>
              <a:t>1. Données &amp; Registre ML</a:t>
            </a:r>
          </a:p>
          <a:p>
            <a:pPr>
              <a:spcBef>
                <a:spcPts val="600"/>
              </a:spcBef>
              <a:defRPr sz="1200">
                <a:solidFill>
                  <a:srgbClr val="1E293B"/>
                </a:solidFill>
                <a:latin typeface="Segoe UI"/>
              </a:defRPr>
            </a:pPr>
            <a:r>
              <a:t>• Pipeline ETL modulaire (src/data_loader.py).</a:t>
            </a:r>
          </a:p>
          <a:p>
            <a:pPr>
              <a:spcBef>
                <a:spcPts val="600"/>
              </a:spcBef>
              <a:defRPr sz="1200">
                <a:solidFill>
                  <a:srgbClr val="1E293B"/>
                </a:solidFill>
                <a:latin typeface="Segoe UI"/>
              </a:defRPr>
            </a:pPr>
            <a:r>
              <a:t>• Feature engineering réutilisable (src/feature_engineering.py).</a:t>
            </a:r>
          </a:p>
          <a:p>
            <a:pPr>
              <a:spcBef>
                <a:spcPts val="600"/>
              </a:spcBef>
              <a:defRPr sz="1200">
                <a:solidFill>
                  <a:srgbClr val="1E293B"/>
                </a:solidFill>
                <a:latin typeface="Segoe UI"/>
              </a:defRPr>
            </a:pPr>
            <a:r>
              <a:t>• Model Registry (models/) : 3 modèles sérialisés au format Joblib.</a:t>
            </a:r>
          </a:p>
          <a:p>
            <a:pPr>
              <a:spcBef>
                <a:spcPts val="600"/>
              </a:spcBef>
              <a:defRPr sz="1200">
                <a:solidFill>
                  <a:srgbClr val="1E293B"/>
                </a:solidFill>
                <a:latin typeface="Segoe UI"/>
              </a:defRPr>
            </a:pPr>
            <a:r>
              <a:t>• Traçabilité complète des scores dans metrics.json.</a:t>
            </a:r>
          </a:p>
        </p:txBody>
      </p:sp>
      <p:sp>
        <p:nvSpPr>
          <p:cNvPr id="8" name="Rounded Rectangle 7"/>
          <p:cNvSpPr/>
          <p:nvPr/>
        </p:nvSpPr>
        <p:spPr>
          <a:xfrm>
            <a:off x="4389120" y="1645920"/>
            <a:ext cx="329184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89120" y="1645920"/>
            <a:ext cx="3291840" cy="73152"/>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17720" y="1828800"/>
            <a:ext cx="2834640" cy="4069080"/>
          </a:xfrm>
          <a:prstGeom prst="rect">
            <a:avLst/>
          </a:prstGeom>
          <a:noFill/>
        </p:spPr>
        <p:txBody>
          <a:bodyPr wrap="square" tIns="0" bIns="0" lIns="0" rIns="0">
            <a:spAutoFit/>
          </a:bodyPr>
          <a:lstStyle/>
          <a:p>
            <a:pPr>
              <a:defRPr sz="1500" b="1">
                <a:solidFill>
                  <a:srgbClr val="1E3A8A"/>
                </a:solidFill>
                <a:latin typeface="Segoe UI"/>
              </a:defRPr>
            </a:pPr>
            <a:r>
              <a:t>2. Backend REST API</a:t>
            </a:r>
          </a:p>
          <a:p>
            <a:pPr>
              <a:spcBef>
                <a:spcPts val="600"/>
              </a:spcBef>
              <a:defRPr sz="1200">
                <a:solidFill>
                  <a:srgbClr val="1E293B"/>
                </a:solidFill>
                <a:latin typeface="Segoe UI"/>
              </a:defRPr>
            </a:pPr>
            <a:r>
              <a:t>• Serveur FastAPI asynchrone ultra-performant.</a:t>
            </a:r>
          </a:p>
          <a:p>
            <a:pPr>
              <a:spcBef>
                <a:spcPts val="600"/>
              </a:spcBef>
              <a:defRPr sz="1200">
                <a:solidFill>
                  <a:srgbClr val="1E293B"/>
                </a:solidFill>
                <a:latin typeface="Segoe UI"/>
              </a:defRPr>
            </a:pPr>
            <a:r>
              <a:t>• Contrats d'interface validés par Pydantic v2.</a:t>
            </a:r>
          </a:p>
          <a:p>
            <a:pPr>
              <a:spcBef>
                <a:spcPts val="600"/>
              </a:spcBef>
              <a:defRPr sz="1200">
                <a:solidFill>
                  <a:srgbClr val="1E293B"/>
                </a:solidFill>
                <a:latin typeface="Segoe UI"/>
              </a:defRPr>
            </a:pPr>
            <a:r>
              <a:t>• Documentation OpenAPI interactive (Swagger UI /docs).</a:t>
            </a:r>
          </a:p>
          <a:p>
            <a:pPr>
              <a:spcBef>
                <a:spcPts val="600"/>
              </a:spcBef>
              <a:defRPr sz="1200">
                <a:solidFill>
                  <a:srgbClr val="1E293B"/>
                </a:solidFill>
                <a:latin typeface="Segoe UI"/>
              </a:defRPr>
            </a:pPr>
            <a:r>
              <a:t>• Découplage total : L'API peut alimenter Moodle ou tout autre ERP.</a:t>
            </a:r>
          </a:p>
        </p:txBody>
      </p:sp>
      <p:sp>
        <p:nvSpPr>
          <p:cNvPr id="11" name="Rounded Rectangle 10"/>
          <p:cNvSpPr/>
          <p:nvPr/>
        </p:nvSpPr>
        <p:spPr>
          <a:xfrm>
            <a:off x="8046720" y="1645920"/>
            <a:ext cx="329184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046720" y="1645920"/>
            <a:ext cx="3291840"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75320" y="1828800"/>
            <a:ext cx="2834640" cy="4069080"/>
          </a:xfrm>
          <a:prstGeom prst="rect">
            <a:avLst/>
          </a:prstGeom>
          <a:noFill/>
        </p:spPr>
        <p:txBody>
          <a:bodyPr wrap="square" tIns="0" bIns="0" lIns="0" rIns="0">
            <a:spAutoFit/>
          </a:bodyPr>
          <a:lstStyle/>
          <a:p>
            <a:pPr>
              <a:defRPr sz="1500" b="1">
                <a:solidFill>
                  <a:srgbClr val="1E3A8A"/>
                </a:solidFill>
                <a:latin typeface="Segoe UI"/>
              </a:defRPr>
            </a:pPr>
            <a:r>
              <a:t>3. Clients &amp; DevOps</a:t>
            </a:r>
          </a:p>
          <a:p>
            <a:pPr>
              <a:spcBef>
                <a:spcPts val="600"/>
              </a:spcBef>
              <a:defRPr sz="1200">
                <a:solidFill>
                  <a:srgbClr val="1E293B"/>
                </a:solidFill>
                <a:latin typeface="Segoe UI"/>
              </a:defRPr>
            </a:pPr>
            <a:r>
              <a:t>• Frontend interactif Streamlit pour enseignants et tuteurs.</a:t>
            </a:r>
          </a:p>
          <a:p>
            <a:pPr>
              <a:spcBef>
                <a:spcPts val="600"/>
              </a:spcBef>
              <a:defRPr sz="1200">
                <a:solidFill>
                  <a:srgbClr val="1E293B"/>
                </a:solidFill>
                <a:latin typeface="Segoe UI"/>
              </a:defRPr>
            </a:pPr>
            <a:r>
              <a:t>• Suite de 13 tests Pytest automatisés.</a:t>
            </a:r>
          </a:p>
          <a:p>
            <a:pPr>
              <a:spcBef>
                <a:spcPts val="600"/>
              </a:spcBef>
              <a:defRPr sz="1200">
                <a:solidFill>
                  <a:srgbClr val="1E293B"/>
                </a:solidFill>
                <a:latin typeface="Segoe UI"/>
              </a:defRPr>
            </a:pPr>
            <a:r>
              <a:t>• Conteneurisation Docker &amp; orchestration Docker Compose.</a:t>
            </a:r>
          </a:p>
          <a:p>
            <a:pPr>
              <a:spcBef>
                <a:spcPts val="600"/>
              </a:spcBef>
              <a:defRPr sz="1200">
                <a:solidFill>
                  <a:srgbClr val="1E293B"/>
                </a:solidFill>
                <a:latin typeface="Segoe UI"/>
              </a:defRPr>
            </a:pPr>
            <a:r>
              <a:t>• Interface en ligne de commande unifiée run_project.py.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772400" cy="731520"/>
          </a:xfrm>
          <a:prstGeom prst="rect">
            <a:avLst/>
          </a:prstGeom>
          <a:noFill/>
        </p:spPr>
        <p:txBody>
          <a:bodyPr wrap="square" tIns="0" bIns="0" lIns="0" rIns="0">
            <a:spAutoFit/>
          </a:bodyPr>
          <a:lstStyle/>
          <a:p>
            <a:pPr>
              <a:defRPr sz="2400" b="1">
                <a:solidFill>
                  <a:srgbClr val="1E3A8A"/>
                </a:solidFill>
                <a:latin typeface="Segoe UI"/>
              </a:defRPr>
            </a:pPr>
            <a:r>
              <a:t>6. Backend &amp; Endpoints d'Inférence FastAPI</a:t>
            </a:r>
          </a:p>
        </p:txBody>
      </p:sp>
      <p:sp>
        <p:nvSpPr>
          <p:cNvPr id="4" name="Rounded Rectangle 3"/>
          <p:cNvSpPr/>
          <p:nvPr/>
        </p:nvSpPr>
        <p:spPr>
          <a:xfrm>
            <a:off x="8595360" y="365760"/>
            <a:ext cx="2834640" cy="54864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Segoe UI"/>
              </a:defRPr>
            </a:pPr>
            <a:r>
              <a:t>👤 Membre 3 (2 min)</a:t>
            </a:r>
          </a:p>
          <a:p>
            <a:pPr algn="ctr">
              <a:defRPr sz="900">
                <a:solidFill>
                  <a:srgbClr val="FFFFFF"/>
                </a:solidFill>
                <a:latin typeface="Segoe UI"/>
              </a:defRPr>
            </a:pPr>
            <a:r>
              <a:t>Ingénieur Backend &amp; API</a:t>
            </a:r>
          </a:p>
        </p:txBody>
      </p:sp>
      <p:sp>
        <p:nvSpPr>
          <p:cNvPr id="5" name="Rounded Rectangle 4"/>
          <p:cNvSpPr/>
          <p:nvPr/>
        </p:nvSpPr>
        <p:spPr>
          <a:xfrm>
            <a:off x="731520" y="1645920"/>
            <a:ext cx="521208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45920"/>
            <a:ext cx="5212080" cy="73152"/>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28800"/>
            <a:ext cx="4754880" cy="4069080"/>
          </a:xfrm>
          <a:prstGeom prst="rect">
            <a:avLst/>
          </a:prstGeom>
          <a:noFill/>
        </p:spPr>
        <p:txBody>
          <a:bodyPr wrap="square" tIns="0" bIns="0" lIns="0" rIns="0">
            <a:spAutoFit/>
          </a:bodyPr>
          <a:lstStyle/>
          <a:p>
            <a:pPr>
              <a:defRPr sz="1500" b="1">
                <a:solidFill>
                  <a:srgbClr val="1E3A8A"/>
                </a:solidFill>
                <a:latin typeface="Segoe UI"/>
              </a:defRPr>
            </a:pPr>
            <a:r>
              <a:t>📡 Endpoints Opérationnels (api/main.py)</a:t>
            </a:r>
          </a:p>
          <a:p>
            <a:pPr>
              <a:spcBef>
                <a:spcPts val="600"/>
              </a:spcBef>
              <a:defRPr sz="1200">
                <a:solidFill>
                  <a:srgbClr val="1E293B"/>
                </a:solidFill>
                <a:latin typeface="Segoe UI"/>
              </a:defRPr>
            </a:pPr>
            <a:r>
              <a:t>• GET /health : Statut du service et confirmation du chargement du modèle.</a:t>
            </a:r>
          </a:p>
          <a:p>
            <a:pPr>
              <a:spcBef>
                <a:spcPts val="600"/>
              </a:spcBef>
              <a:defRPr sz="1200">
                <a:solidFill>
                  <a:srgbClr val="1E293B"/>
                </a:solidFill>
                <a:latin typeface="Segoe UI"/>
              </a:defRPr>
            </a:pPr>
            <a:r>
              <a:t>• GET /metrics : Traçabilité des scores et matrices de confusion.</a:t>
            </a:r>
          </a:p>
          <a:p>
            <a:pPr>
              <a:spcBef>
                <a:spcPts val="600"/>
              </a:spcBef>
              <a:defRPr sz="1200">
                <a:solidFill>
                  <a:srgbClr val="1E293B"/>
                </a:solidFill>
                <a:latin typeface="Segoe UI"/>
              </a:defRPr>
            </a:pPr>
            <a:r>
              <a:t>• GET /sample_profiles : 3 profils types pré-configurés (Faible, Moyen, Élevé).</a:t>
            </a:r>
          </a:p>
          <a:p>
            <a:pPr>
              <a:spcBef>
                <a:spcPts val="600"/>
              </a:spcBef>
              <a:defRPr sz="1200">
                <a:solidFill>
                  <a:srgbClr val="1E293B"/>
                </a:solidFill>
                <a:latin typeface="Segoe UI"/>
              </a:defRPr>
            </a:pPr>
            <a:r>
              <a:t>• POST /predict : Diagnostic unitaire temps réel avec jauge de risque.</a:t>
            </a:r>
          </a:p>
          <a:p>
            <a:pPr>
              <a:spcBef>
                <a:spcPts val="600"/>
              </a:spcBef>
              <a:defRPr sz="1200">
                <a:solidFill>
                  <a:srgbClr val="1E293B"/>
                </a:solidFill>
                <a:latin typeface="Segoe UI"/>
              </a:defRPr>
            </a:pPr>
            <a:r>
              <a:t>• POST /predict_batch : Inférence vectorisée sur une liste d'étudiants.</a:t>
            </a:r>
          </a:p>
          <a:p>
            <a:pPr>
              <a:spcBef>
                <a:spcPts val="600"/>
              </a:spcBef>
              <a:defRPr sz="1200">
                <a:solidFill>
                  <a:srgbClr val="1E293B"/>
                </a:solidFill>
                <a:latin typeface="Segoe UI"/>
              </a:defRPr>
            </a:pPr>
            <a:r>
              <a:t>• POST /predict_csv : Enrichissement automatique d'un fichier CSV de cohorte.</a:t>
            </a:r>
          </a:p>
        </p:txBody>
      </p:sp>
      <p:sp>
        <p:nvSpPr>
          <p:cNvPr id="8" name="Rounded Rectangle 7"/>
          <p:cNvSpPr/>
          <p:nvPr/>
        </p:nvSpPr>
        <p:spPr>
          <a:xfrm>
            <a:off x="6217920" y="1645920"/>
            <a:ext cx="521208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17920" y="1645920"/>
            <a:ext cx="5212080" cy="7315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828800"/>
            <a:ext cx="4754880" cy="4069080"/>
          </a:xfrm>
          <a:prstGeom prst="rect">
            <a:avLst/>
          </a:prstGeom>
          <a:noFill/>
        </p:spPr>
        <p:txBody>
          <a:bodyPr wrap="square" tIns="0" bIns="0" lIns="0" rIns="0">
            <a:spAutoFit/>
          </a:bodyPr>
          <a:lstStyle/>
          <a:p>
            <a:pPr>
              <a:defRPr sz="1500" b="1">
                <a:solidFill>
                  <a:srgbClr val="1E3A8A"/>
                </a:solidFill>
                <a:latin typeface="Segoe UI"/>
              </a:defRPr>
            </a:pPr>
            <a:r>
              <a:t>🛡️ Schémas Pydantic v2 &amp; Documentation</a:t>
            </a:r>
          </a:p>
          <a:p>
            <a:pPr>
              <a:spcBef>
                <a:spcPts val="600"/>
              </a:spcBef>
              <a:defRPr sz="1200">
                <a:solidFill>
                  <a:srgbClr val="1E293B"/>
                </a:solidFill>
                <a:latin typeface="Segoe UI"/>
              </a:defRPr>
            </a:pPr>
            <a:r>
              <a:t>• Validation stricte des types de données (api/schemas.py).</a:t>
            </a:r>
          </a:p>
          <a:p>
            <a:pPr>
              <a:spcBef>
                <a:spcPts val="600"/>
              </a:spcBef>
              <a:defRPr sz="1200">
                <a:solidFill>
                  <a:srgbClr val="1E293B"/>
                </a:solidFill>
                <a:latin typeface="Segoe UI"/>
              </a:defRPr>
            </a:pPr>
            <a:r>
              <a:t>• Contrôle automatique des bornes : Notes entre 0 et 100, crédits positifs.</a:t>
            </a:r>
          </a:p>
          <a:p>
            <a:pPr>
              <a:spcBef>
                <a:spcPts val="600"/>
              </a:spcBef>
              <a:defRPr sz="1200">
                <a:solidFill>
                  <a:srgbClr val="1E293B"/>
                </a:solidFill>
                <a:latin typeface="Segoe UI"/>
              </a:defRPr>
            </a:pPr>
            <a:r>
              <a:t>• Gestion moderne du cycle de vie du serveur via lifespan.</a:t>
            </a:r>
          </a:p>
          <a:p>
            <a:pPr>
              <a:spcBef>
                <a:spcPts val="600"/>
              </a:spcBef>
              <a:defRPr sz="1200">
                <a:solidFill>
                  <a:srgbClr val="1E293B"/>
                </a:solidFill>
                <a:latin typeface="Segoe UI"/>
              </a:defRPr>
            </a:pPr>
            <a:r>
              <a:t>• CORS activé pour intégration facile avec tout client frontend.</a:t>
            </a:r>
          </a:p>
          <a:p>
            <a:pPr>
              <a:spcBef>
                <a:spcPts val="600"/>
              </a:spcBef>
              <a:defRPr sz="1200">
                <a:solidFill>
                  <a:srgbClr val="1E293B"/>
                </a:solidFill>
                <a:latin typeface="Segoe UI"/>
              </a:defRPr>
            </a:pPr>
            <a:r>
              <a:t>• Documentation interactive Swagger accessible sur http://127.0.0.1:8000/docs.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772400" cy="731520"/>
          </a:xfrm>
          <a:prstGeom prst="rect">
            <a:avLst/>
          </a:prstGeom>
          <a:noFill/>
        </p:spPr>
        <p:txBody>
          <a:bodyPr wrap="square" tIns="0" bIns="0" lIns="0" rIns="0">
            <a:spAutoFit/>
          </a:bodyPr>
          <a:lstStyle/>
          <a:p>
            <a:pPr>
              <a:defRPr sz="2400" b="1">
                <a:solidFill>
                  <a:srgbClr val="1E3A8A"/>
                </a:solidFill>
                <a:latin typeface="Segoe UI"/>
              </a:defRPr>
            </a:pPr>
            <a:r>
              <a:t>7. Interface Décisionnelle Interactive Streamlit</a:t>
            </a:r>
          </a:p>
        </p:txBody>
      </p:sp>
      <p:sp>
        <p:nvSpPr>
          <p:cNvPr id="4" name="Rounded Rectangle 3"/>
          <p:cNvSpPr/>
          <p:nvPr/>
        </p:nvSpPr>
        <p:spPr>
          <a:xfrm>
            <a:off x="8595360" y="365760"/>
            <a:ext cx="2834640" cy="54864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Segoe UI"/>
              </a:defRPr>
            </a:pPr>
            <a:r>
              <a:t>👤 Membre 4 (2 min)</a:t>
            </a:r>
          </a:p>
          <a:p>
            <a:pPr algn="ctr">
              <a:defRPr sz="900">
                <a:solidFill>
                  <a:srgbClr val="FFFFFF"/>
                </a:solidFill>
                <a:latin typeface="Segoe UI"/>
              </a:defRPr>
            </a:pPr>
            <a:r>
              <a:t>Frontend &amp; UX Décisionnelle</a:t>
            </a:r>
          </a:p>
        </p:txBody>
      </p:sp>
      <p:sp>
        <p:nvSpPr>
          <p:cNvPr id="5" name="Rounded Rectangle 4"/>
          <p:cNvSpPr/>
          <p:nvPr/>
        </p:nvSpPr>
        <p:spPr>
          <a:xfrm>
            <a:off x="731520" y="1645920"/>
            <a:ext cx="329184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45920"/>
            <a:ext cx="3291840" cy="7315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28800"/>
            <a:ext cx="2834640" cy="1783079"/>
          </a:xfrm>
          <a:prstGeom prst="rect">
            <a:avLst/>
          </a:prstGeom>
          <a:noFill/>
        </p:spPr>
        <p:txBody>
          <a:bodyPr wrap="square" tIns="0" bIns="0" lIns="0" rIns="0">
            <a:spAutoFit/>
          </a:bodyPr>
          <a:lstStyle/>
          <a:p>
            <a:pPr>
              <a:defRPr sz="1500" b="1">
                <a:solidFill>
                  <a:srgbClr val="1E3A8A"/>
                </a:solidFill>
                <a:latin typeface="Segoe UI"/>
              </a:defRPr>
            </a:pPr>
            <a:r>
              <a:t>📊 1. Analyse Exploratoire (EDA)</a:t>
            </a:r>
          </a:p>
          <a:p>
            <a:pPr>
              <a:spcBef>
                <a:spcPts val="600"/>
              </a:spcBef>
              <a:defRPr sz="1200">
                <a:solidFill>
                  <a:srgbClr val="1E293B"/>
                </a:solidFill>
                <a:latin typeface="Segoe UI"/>
              </a:defRPr>
            </a:pPr>
            <a:r>
              <a:t>• Visualisations interactives Plotly.</a:t>
            </a:r>
          </a:p>
          <a:p>
            <a:pPr>
              <a:spcBef>
                <a:spcPts val="600"/>
              </a:spcBef>
              <a:defRPr sz="1200">
                <a:solidFill>
                  <a:srgbClr val="1E293B"/>
                </a:solidFill>
                <a:latin typeface="Segoe UI"/>
              </a:defRPr>
            </a:pPr>
            <a:r>
              <a:t>• Impact des clics VLE sur la réussite.</a:t>
            </a:r>
          </a:p>
          <a:p>
            <a:pPr>
              <a:spcBef>
                <a:spcPts val="600"/>
              </a:spcBef>
              <a:defRPr sz="1200">
                <a:solidFill>
                  <a:srgbClr val="1E293B"/>
                </a:solidFill>
                <a:latin typeface="Segoe UI"/>
              </a:defRPr>
            </a:pPr>
            <a:r>
              <a:t>• Distribution des résultats et crédits.</a:t>
            </a:r>
          </a:p>
        </p:txBody>
      </p:sp>
      <p:sp>
        <p:nvSpPr>
          <p:cNvPr id="8" name="Rounded Rectangle 7"/>
          <p:cNvSpPr/>
          <p:nvPr/>
        </p:nvSpPr>
        <p:spPr>
          <a:xfrm>
            <a:off x="4389120" y="1645920"/>
            <a:ext cx="329184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89120" y="1645920"/>
            <a:ext cx="3291840"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17720" y="1828800"/>
            <a:ext cx="2834640" cy="1783079"/>
          </a:xfrm>
          <a:prstGeom prst="rect">
            <a:avLst/>
          </a:prstGeom>
          <a:noFill/>
        </p:spPr>
        <p:txBody>
          <a:bodyPr wrap="square" tIns="0" bIns="0" lIns="0" rIns="0">
            <a:spAutoFit/>
          </a:bodyPr>
          <a:lstStyle/>
          <a:p>
            <a:pPr>
              <a:defRPr sz="1500" b="1">
                <a:solidFill>
                  <a:srgbClr val="1E3A8A"/>
                </a:solidFill>
                <a:latin typeface="Segoe UI"/>
              </a:defRPr>
            </a:pPr>
            <a:r>
              <a:t>🤖 2. Comparateur de Modèles</a:t>
            </a:r>
          </a:p>
          <a:p>
            <a:pPr>
              <a:spcBef>
                <a:spcPts val="600"/>
              </a:spcBef>
              <a:defRPr sz="1200">
                <a:solidFill>
                  <a:srgbClr val="1E293B"/>
                </a:solidFill>
                <a:latin typeface="Segoe UI"/>
              </a:defRPr>
            </a:pPr>
            <a:r>
              <a:t>• Tableaux comparatifs des 3 modèles.</a:t>
            </a:r>
          </a:p>
          <a:p>
            <a:pPr>
              <a:spcBef>
                <a:spcPts val="600"/>
              </a:spcBef>
              <a:defRPr sz="1200">
                <a:solidFill>
                  <a:srgbClr val="1E293B"/>
                </a:solidFill>
                <a:latin typeface="Segoe UI"/>
              </a:defRPr>
            </a:pPr>
            <a:r>
              <a:t>• Matrices de confusion interactives.</a:t>
            </a:r>
          </a:p>
          <a:p>
            <a:pPr>
              <a:spcBef>
                <a:spcPts val="600"/>
              </a:spcBef>
              <a:defRPr sz="1200">
                <a:solidFill>
                  <a:srgbClr val="1E293B"/>
                </a:solidFill>
                <a:latin typeface="Segoe UI"/>
              </a:defRPr>
            </a:pPr>
            <a:r>
              <a:t>• Courbes d'importance des variables.</a:t>
            </a:r>
          </a:p>
        </p:txBody>
      </p:sp>
      <p:sp>
        <p:nvSpPr>
          <p:cNvPr id="11" name="Rounded Rectangle 10"/>
          <p:cNvSpPr/>
          <p:nvPr/>
        </p:nvSpPr>
        <p:spPr>
          <a:xfrm>
            <a:off x="8046720" y="1645920"/>
            <a:ext cx="329184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046720" y="1645920"/>
            <a:ext cx="3291840"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75320" y="1828800"/>
            <a:ext cx="2834640" cy="1783079"/>
          </a:xfrm>
          <a:prstGeom prst="rect">
            <a:avLst/>
          </a:prstGeom>
          <a:noFill/>
        </p:spPr>
        <p:txBody>
          <a:bodyPr wrap="square" tIns="0" bIns="0" lIns="0" rIns="0">
            <a:spAutoFit/>
          </a:bodyPr>
          <a:lstStyle/>
          <a:p>
            <a:pPr>
              <a:defRPr sz="1500" b="1">
                <a:solidFill>
                  <a:srgbClr val="1E3A8A"/>
                </a:solidFill>
                <a:latin typeface="Segoe UI"/>
              </a:defRPr>
            </a:pPr>
            <a:r>
              <a:t>🎯 3. Simulateur Interactif</a:t>
            </a:r>
          </a:p>
          <a:p>
            <a:pPr>
              <a:spcBef>
                <a:spcPts val="600"/>
              </a:spcBef>
              <a:defRPr sz="1200">
                <a:solidFill>
                  <a:srgbClr val="1E293B"/>
                </a:solidFill>
                <a:latin typeface="Segoe UI"/>
              </a:defRPr>
            </a:pPr>
            <a:r>
              <a:t>• Formulaire de saisie en 3 volets.</a:t>
            </a:r>
          </a:p>
          <a:p>
            <a:pPr>
              <a:spcBef>
                <a:spcPts val="600"/>
              </a:spcBef>
              <a:defRPr sz="1200">
                <a:solidFill>
                  <a:srgbClr val="1E293B"/>
                </a:solidFill>
                <a:latin typeface="Segoe UI"/>
              </a:defRPr>
            </a:pPr>
            <a:r>
              <a:t>• Jauge Plotly de risque tricolore.</a:t>
            </a:r>
          </a:p>
          <a:p>
            <a:pPr>
              <a:spcBef>
                <a:spcPts val="600"/>
              </a:spcBef>
              <a:defRPr sz="1200">
                <a:solidFill>
                  <a:srgbClr val="1E293B"/>
                </a:solidFill>
                <a:latin typeface="Segoe UI"/>
              </a:defRPr>
            </a:pPr>
            <a:r>
              <a:t>• Prescription tutorale immédiate.</a:t>
            </a:r>
          </a:p>
        </p:txBody>
      </p:sp>
      <p:sp>
        <p:nvSpPr>
          <p:cNvPr id="14" name="Rounded Rectangle 13"/>
          <p:cNvSpPr/>
          <p:nvPr/>
        </p:nvSpPr>
        <p:spPr>
          <a:xfrm>
            <a:off x="731520" y="3931920"/>
            <a:ext cx="521208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3931920"/>
            <a:ext cx="5212080" cy="731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4114800"/>
            <a:ext cx="4754880" cy="1783079"/>
          </a:xfrm>
          <a:prstGeom prst="rect">
            <a:avLst/>
          </a:prstGeom>
          <a:noFill/>
        </p:spPr>
        <p:txBody>
          <a:bodyPr wrap="square" tIns="0" bIns="0" lIns="0" rIns="0">
            <a:spAutoFit/>
          </a:bodyPr>
          <a:lstStyle/>
          <a:p>
            <a:pPr>
              <a:defRPr sz="1500" b="1">
                <a:solidFill>
                  <a:srgbClr val="1E3A8A"/>
                </a:solidFill>
                <a:latin typeface="Segoe UI"/>
              </a:defRPr>
            </a:pPr>
            <a:r>
              <a:t>📁 4. Analyse par Cohorte (Batch)</a:t>
            </a:r>
          </a:p>
          <a:p>
            <a:pPr>
              <a:spcBef>
                <a:spcPts val="600"/>
              </a:spcBef>
              <a:defRPr sz="1200">
                <a:solidFill>
                  <a:srgbClr val="1E293B"/>
                </a:solidFill>
                <a:latin typeface="Segoe UI"/>
              </a:defRPr>
            </a:pPr>
            <a:r>
              <a:t>• Exploration filtrable des cohortes OULAD existantes.</a:t>
            </a:r>
          </a:p>
          <a:p>
            <a:pPr>
              <a:spcBef>
                <a:spcPts val="600"/>
              </a:spcBef>
              <a:defRPr sz="1200">
                <a:solidFill>
                  <a:srgbClr val="1E293B"/>
                </a:solidFill>
                <a:latin typeface="Segoe UI"/>
              </a:defRPr>
            </a:pPr>
            <a:r>
              <a:t>• Upload d'un fichier CSV externe et scoring automatique.</a:t>
            </a:r>
          </a:p>
          <a:p>
            <a:pPr>
              <a:spcBef>
                <a:spcPts val="600"/>
              </a:spcBef>
              <a:defRPr sz="1200">
                <a:solidFill>
                  <a:srgbClr val="1E293B"/>
                </a:solidFill>
                <a:latin typeface="Segoe UI"/>
              </a:defRPr>
            </a:pPr>
            <a:r>
              <a:t>• Export Excel/CSV de la liste des étudiants prioritaires.</a:t>
            </a:r>
          </a:p>
        </p:txBody>
      </p:sp>
      <p:sp>
        <p:nvSpPr>
          <p:cNvPr id="17" name="Rounded Rectangle 16"/>
          <p:cNvSpPr/>
          <p:nvPr/>
        </p:nvSpPr>
        <p:spPr>
          <a:xfrm>
            <a:off x="6217920" y="3931920"/>
            <a:ext cx="521208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17920" y="3931920"/>
            <a:ext cx="5212080" cy="7315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6520" y="4114800"/>
            <a:ext cx="4754880" cy="1783079"/>
          </a:xfrm>
          <a:prstGeom prst="rect">
            <a:avLst/>
          </a:prstGeom>
          <a:noFill/>
        </p:spPr>
        <p:txBody>
          <a:bodyPr wrap="square" tIns="0" bIns="0" lIns="0" rIns="0">
            <a:spAutoFit/>
          </a:bodyPr>
          <a:lstStyle/>
          <a:p>
            <a:pPr>
              <a:defRPr sz="1500" b="1">
                <a:solidFill>
                  <a:srgbClr val="1E3A8A"/>
                </a:solidFill>
                <a:latin typeface="Segoe UI"/>
              </a:defRPr>
            </a:pPr>
            <a:r>
              <a:t>📚 5. Support Pédagogique &amp; Éthique</a:t>
            </a:r>
          </a:p>
          <a:p>
            <a:pPr>
              <a:spcBef>
                <a:spcPts val="600"/>
              </a:spcBef>
              <a:defRPr sz="1200">
                <a:solidFill>
                  <a:srgbClr val="1E293B"/>
                </a:solidFill>
                <a:latin typeface="Segoe UI"/>
              </a:defRPr>
            </a:pPr>
            <a:r>
              <a:t>• Rappel des objectifs d'aide à la décision.</a:t>
            </a:r>
          </a:p>
          <a:p>
            <a:pPr>
              <a:spcBef>
                <a:spcPts val="600"/>
              </a:spcBef>
              <a:defRPr sz="1200">
                <a:solidFill>
                  <a:srgbClr val="1E293B"/>
                </a:solidFill>
                <a:latin typeface="Segoe UI"/>
              </a:defRPr>
            </a:pPr>
            <a:r>
              <a:t>• Charte de bienveillance pour les enseignants.</a:t>
            </a:r>
          </a:p>
          <a:p>
            <a:pPr>
              <a:spcBef>
                <a:spcPts val="600"/>
              </a:spcBef>
              <a:defRPr sz="1200">
                <a:solidFill>
                  <a:srgbClr val="1E293B"/>
                </a:solidFill>
                <a:latin typeface="Segoe UI"/>
              </a:defRPr>
            </a:pPr>
            <a:r>
              <a:t>• Explications claires des facteurs influençant l'IA.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772400" cy="731520"/>
          </a:xfrm>
          <a:prstGeom prst="rect">
            <a:avLst/>
          </a:prstGeom>
          <a:noFill/>
        </p:spPr>
        <p:txBody>
          <a:bodyPr wrap="square" tIns="0" bIns="0" lIns="0" rIns="0">
            <a:spAutoFit/>
          </a:bodyPr>
          <a:lstStyle/>
          <a:p>
            <a:pPr>
              <a:defRPr sz="2400" b="1">
                <a:solidFill>
                  <a:srgbClr val="1E3A8A"/>
                </a:solidFill>
                <a:latin typeface="Segoe UI"/>
              </a:defRPr>
            </a:pPr>
            <a:r>
              <a:t>8. Diagnostic Actionnable &amp; Tutorat Personnalisé</a:t>
            </a:r>
          </a:p>
        </p:txBody>
      </p:sp>
      <p:sp>
        <p:nvSpPr>
          <p:cNvPr id="4" name="Rounded Rectangle 3"/>
          <p:cNvSpPr/>
          <p:nvPr/>
        </p:nvSpPr>
        <p:spPr>
          <a:xfrm>
            <a:off x="8595360" y="365760"/>
            <a:ext cx="2834640" cy="54864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Segoe UI"/>
              </a:defRPr>
            </a:pPr>
            <a:r>
              <a:t>👤 Membre 4 (2 min)</a:t>
            </a:r>
          </a:p>
          <a:p>
            <a:pPr algn="ctr">
              <a:defRPr sz="900">
                <a:solidFill>
                  <a:srgbClr val="FFFFFF"/>
                </a:solidFill>
                <a:latin typeface="Segoe UI"/>
              </a:defRPr>
            </a:pPr>
            <a:r>
              <a:t>Frontend &amp; UX Décisionnelle</a:t>
            </a:r>
          </a:p>
        </p:txBody>
      </p:sp>
      <p:sp>
        <p:nvSpPr>
          <p:cNvPr id="5" name="Rounded Rectangle 4"/>
          <p:cNvSpPr/>
          <p:nvPr/>
        </p:nvSpPr>
        <p:spPr>
          <a:xfrm>
            <a:off x="731520" y="1645920"/>
            <a:ext cx="521208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45920"/>
            <a:ext cx="5212080" cy="7315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28800"/>
            <a:ext cx="4754880" cy="4069080"/>
          </a:xfrm>
          <a:prstGeom prst="rect">
            <a:avLst/>
          </a:prstGeom>
          <a:noFill/>
        </p:spPr>
        <p:txBody>
          <a:bodyPr wrap="square" tIns="0" bIns="0" lIns="0" rIns="0">
            <a:spAutoFit/>
          </a:bodyPr>
          <a:lstStyle/>
          <a:p>
            <a:pPr>
              <a:defRPr sz="1500" b="1">
                <a:solidFill>
                  <a:srgbClr val="1E3A8A"/>
                </a:solidFill>
                <a:latin typeface="Segoe UI"/>
              </a:defRPr>
            </a:pPr>
            <a:r>
              <a:t>⚠️ Signaux Faibles Détectés par l'Algorithme</a:t>
            </a:r>
          </a:p>
          <a:p>
            <a:pPr>
              <a:spcBef>
                <a:spcPts val="600"/>
              </a:spcBef>
              <a:defRPr sz="1200">
                <a:solidFill>
                  <a:srgbClr val="1E293B"/>
                </a:solidFill>
                <a:latin typeface="Segoe UI"/>
              </a:defRPr>
            </a:pPr>
            <a:r>
              <a:t>• Faible assiduité VLE : Moins de 100 clics dans le premier mois de cours.</a:t>
            </a:r>
          </a:p>
          <a:p>
            <a:pPr>
              <a:spcBef>
                <a:spcPts val="600"/>
              </a:spcBef>
              <a:defRPr sz="1200">
                <a:solidFill>
                  <a:srgbClr val="1E293B"/>
                </a:solidFill>
                <a:latin typeface="Segoe UI"/>
              </a:defRPr>
            </a:pPr>
            <a:r>
              <a:t>• Notes d'évaluation initiales : Score moyen &lt; 40/100 ou devoir non rendu.</a:t>
            </a:r>
          </a:p>
          <a:p>
            <a:pPr>
              <a:spcBef>
                <a:spcPts val="600"/>
              </a:spcBef>
              <a:defRPr sz="1200">
                <a:solidFill>
                  <a:srgbClr val="1E293B"/>
                </a:solidFill>
                <a:latin typeface="Segoe UI"/>
              </a:defRPr>
            </a:pPr>
            <a:r>
              <a:t>• Retard de soumission : Devoir déposé après la date limite officielle.</a:t>
            </a:r>
          </a:p>
          <a:p>
            <a:pPr>
              <a:spcBef>
                <a:spcPts val="600"/>
              </a:spcBef>
              <a:defRPr sz="1200">
                <a:solidFill>
                  <a:srgbClr val="1E293B"/>
                </a:solidFill>
                <a:latin typeface="Segoe UI"/>
              </a:defRPr>
            </a:pPr>
            <a:r>
              <a:t>• Inscription tardive : Arrivée après le démarrage des enseignements.</a:t>
            </a:r>
          </a:p>
          <a:p>
            <a:pPr>
              <a:spcBef>
                <a:spcPts val="600"/>
              </a:spcBef>
              <a:defRPr sz="1200">
                <a:solidFill>
                  <a:srgbClr val="1E293B"/>
                </a:solidFill>
                <a:latin typeface="Segoe UI"/>
              </a:defRPr>
            </a:pPr>
            <a:r>
              <a:t>• Surcharge académique : Plus de 120 crédits suivis simultanément.</a:t>
            </a:r>
          </a:p>
        </p:txBody>
      </p:sp>
      <p:sp>
        <p:nvSpPr>
          <p:cNvPr id="8" name="Rounded Rectangle 7"/>
          <p:cNvSpPr/>
          <p:nvPr/>
        </p:nvSpPr>
        <p:spPr>
          <a:xfrm>
            <a:off x="6217920" y="1645920"/>
            <a:ext cx="521208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17920" y="1645920"/>
            <a:ext cx="5212080"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828800"/>
            <a:ext cx="4754880" cy="4069080"/>
          </a:xfrm>
          <a:prstGeom prst="rect">
            <a:avLst/>
          </a:prstGeom>
          <a:noFill/>
        </p:spPr>
        <p:txBody>
          <a:bodyPr wrap="square" tIns="0" bIns="0" lIns="0" rIns="0">
            <a:spAutoFit/>
          </a:bodyPr>
          <a:lstStyle/>
          <a:p>
            <a:pPr>
              <a:defRPr sz="1500" b="1">
                <a:solidFill>
                  <a:srgbClr val="1E3A8A"/>
                </a:solidFill>
                <a:latin typeface="Segoe UI"/>
              </a:defRPr>
            </a:pPr>
            <a:r>
              <a:t>💡 Actions Tutorales Recommandées Clé en Main</a:t>
            </a:r>
          </a:p>
          <a:p>
            <a:pPr>
              <a:spcBef>
                <a:spcPts val="600"/>
              </a:spcBef>
              <a:defRPr sz="1200">
                <a:solidFill>
                  <a:srgbClr val="1E293B"/>
                </a:solidFill>
                <a:latin typeface="Segoe UI"/>
              </a:defRPr>
            </a:pPr>
            <a:r>
              <a:t>• 📞 Prise de contact proactive : Vérifier l'accès technique et la prise en main du VLE.</a:t>
            </a:r>
          </a:p>
          <a:p>
            <a:pPr>
              <a:spcBef>
                <a:spcPts val="600"/>
              </a:spcBef>
              <a:defRPr sz="1200">
                <a:solidFill>
                  <a:srgbClr val="1E293B"/>
                </a:solidFill>
                <a:latin typeface="Segoe UI"/>
              </a:defRPr>
            </a:pPr>
            <a:r>
              <a:t>• 👨‍🏫 Tutorat individualisé : Remise à niveau méthodologique et révision ciblée.</a:t>
            </a:r>
          </a:p>
          <a:p>
            <a:pPr>
              <a:spcBef>
                <a:spcPts val="600"/>
              </a:spcBef>
              <a:defRPr sz="1200">
                <a:solidFill>
                  <a:srgbClr val="1E293B"/>
                </a:solidFill>
                <a:latin typeface="Segoe UI"/>
              </a:defRPr>
            </a:pPr>
            <a:r>
              <a:t>• ⏰ Gestion du temps : Réaménagement concerté du calendrier des rendus.</a:t>
            </a:r>
          </a:p>
          <a:p>
            <a:pPr>
              <a:spcBef>
                <a:spcPts val="600"/>
              </a:spcBef>
              <a:defRPr sz="1200">
                <a:solidFill>
                  <a:srgbClr val="1E293B"/>
                </a:solidFill>
                <a:latin typeface="Segoe UI"/>
              </a:defRPr>
            </a:pPr>
            <a:r>
              <a:t>• 📦 Kit de rattrapage : Fiches de synthèse pour combler le retard initial.</a:t>
            </a:r>
          </a:p>
          <a:p>
            <a:pPr>
              <a:spcBef>
                <a:spcPts val="600"/>
              </a:spcBef>
              <a:defRPr sz="1200">
                <a:solidFill>
                  <a:srgbClr val="1E293B"/>
                </a:solidFill>
                <a:latin typeface="Segoe UI"/>
              </a:defRPr>
            </a:pPr>
            <a:r>
              <a:t>• ♿ Aménagements spécifiques : Activation de tiers-temps ou soutien renforcé.</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772400" cy="731520"/>
          </a:xfrm>
          <a:prstGeom prst="rect">
            <a:avLst/>
          </a:prstGeom>
          <a:noFill/>
        </p:spPr>
        <p:txBody>
          <a:bodyPr wrap="square" tIns="0" bIns="0" lIns="0" rIns="0">
            <a:spAutoFit/>
          </a:bodyPr>
          <a:lstStyle/>
          <a:p>
            <a:pPr>
              <a:defRPr sz="2400" b="1">
                <a:solidFill>
                  <a:srgbClr val="1E3A8A"/>
                </a:solidFill>
                <a:latin typeface="Segoe UI"/>
              </a:defRPr>
            </a:pPr>
            <a:r>
              <a:t>9. Qualité Logicielle, Tests &amp; Déploiement Reproductible</a:t>
            </a:r>
          </a:p>
        </p:txBody>
      </p:sp>
      <p:sp>
        <p:nvSpPr>
          <p:cNvPr id="4" name="Rounded Rectangle 3"/>
          <p:cNvSpPr/>
          <p:nvPr/>
        </p:nvSpPr>
        <p:spPr>
          <a:xfrm>
            <a:off x="8595360" y="365760"/>
            <a:ext cx="2834640" cy="548640"/>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Segoe UI"/>
              </a:defRPr>
            </a:pPr>
            <a:r>
              <a:t>👤 Membre 5 (2 min)</a:t>
            </a:r>
          </a:p>
          <a:p>
            <a:pPr algn="ctr">
              <a:defRPr sz="900">
                <a:solidFill>
                  <a:srgbClr val="FFFFFF"/>
                </a:solidFill>
                <a:latin typeface="Segoe UI"/>
              </a:defRPr>
            </a:pPr>
            <a:r>
              <a:t>Lead DevOps &amp; QA</a:t>
            </a:r>
          </a:p>
        </p:txBody>
      </p:sp>
      <p:sp>
        <p:nvSpPr>
          <p:cNvPr id="5" name="Rounded Rectangle 4"/>
          <p:cNvSpPr/>
          <p:nvPr/>
        </p:nvSpPr>
        <p:spPr>
          <a:xfrm>
            <a:off x="731520" y="1645920"/>
            <a:ext cx="521208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45920"/>
            <a:ext cx="5212080"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28800"/>
            <a:ext cx="4754880" cy="4069080"/>
          </a:xfrm>
          <a:prstGeom prst="rect">
            <a:avLst/>
          </a:prstGeom>
          <a:noFill/>
        </p:spPr>
        <p:txBody>
          <a:bodyPr wrap="square" tIns="0" bIns="0" lIns="0" rIns="0">
            <a:spAutoFit/>
          </a:bodyPr>
          <a:lstStyle/>
          <a:p>
            <a:pPr>
              <a:defRPr sz="1500" b="1">
                <a:solidFill>
                  <a:srgbClr val="1E3A8A"/>
                </a:solidFill>
                <a:latin typeface="Segoe UI"/>
              </a:defRPr>
            </a:pPr>
            <a:r>
              <a:t>🧪 Suite Pytest : 13 Tests Validés (100%)</a:t>
            </a:r>
          </a:p>
          <a:p>
            <a:pPr>
              <a:spcBef>
                <a:spcPts val="600"/>
              </a:spcBef>
              <a:defRPr sz="1200">
                <a:solidFill>
                  <a:srgbClr val="1E293B"/>
                </a:solidFill>
                <a:latin typeface="Segoe UI"/>
              </a:defRPr>
            </a:pPr>
            <a:r>
              <a:t>• test_data.py : Intégrité des 22 colonnes, types et absence de valeurs nulles critiques.</a:t>
            </a:r>
          </a:p>
          <a:p>
            <a:pPr>
              <a:spcBef>
                <a:spcPts val="600"/>
              </a:spcBef>
              <a:defRPr sz="1200">
                <a:solidFill>
                  <a:srgbClr val="1E293B"/>
                </a:solidFill>
                <a:latin typeface="Segoe UI"/>
              </a:defRPr>
            </a:pPr>
            <a:r>
              <a:t>• test_models.py : Sérialisation Joblib, bornage strict des probabilités dans [0, 1] et logique de recommandation.</a:t>
            </a:r>
          </a:p>
          <a:p>
            <a:pPr>
              <a:spcBef>
                <a:spcPts val="600"/>
              </a:spcBef>
              <a:defRPr sz="1200">
                <a:solidFill>
                  <a:srgbClr val="1E293B"/>
                </a:solidFill>
                <a:latin typeface="Segoe UI"/>
              </a:defRPr>
            </a:pPr>
            <a:r>
              <a:t>• test_api.py : Inférence HTTP unitaire (/predict) et par lot (/predict_batch) via TestClient FastAPI.</a:t>
            </a:r>
          </a:p>
          <a:p>
            <a:pPr>
              <a:spcBef>
                <a:spcPts val="600"/>
              </a:spcBef>
              <a:defRPr sz="1200">
                <a:solidFill>
                  <a:srgbClr val="1E293B"/>
                </a:solidFill>
                <a:latin typeface="Segoe UI"/>
              </a:defRPr>
            </a:pPr>
            <a:r>
              <a:t>• Résultat : 13 passed in 4.38s ✅ (Zéro régression logicielle).</a:t>
            </a:r>
          </a:p>
        </p:txBody>
      </p:sp>
      <p:sp>
        <p:nvSpPr>
          <p:cNvPr id="8" name="Rounded Rectangle 7"/>
          <p:cNvSpPr/>
          <p:nvPr/>
        </p:nvSpPr>
        <p:spPr>
          <a:xfrm>
            <a:off x="6217920" y="1645920"/>
            <a:ext cx="521208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17920" y="1645920"/>
            <a:ext cx="5212080" cy="7315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828800"/>
            <a:ext cx="4754880" cy="4069080"/>
          </a:xfrm>
          <a:prstGeom prst="rect">
            <a:avLst/>
          </a:prstGeom>
          <a:noFill/>
        </p:spPr>
        <p:txBody>
          <a:bodyPr wrap="square" tIns="0" bIns="0" lIns="0" rIns="0">
            <a:spAutoFit/>
          </a:bodyPr>
          <a:lstStyle/>
          <a:p>
            <a:pPr>
              <a:defRPr sz="1500" b="1">
                <a:solidFill>
                  <a:srgbClr val="1E3A8A"/>
                </a:solidFill>
                <a:latin typeface="Segoe UI"/>
              </a:defRPr>
            </a:pPr>
            <a:r>
              <a:t>🐳 Déploiement Docker &amp; CLI Universelle</a:t>
            </a:r>
          </a:p>
          <a:p>
            <a:pPr>
              <a:spcBef>
                <a:spcPts val="600"/>
              </a:spcBef>
              <a:defRPr sz="1200">
                <a:solidFill>
                  <a:srgbClr val="1E293B"/>
                </a:solidFill>
                <a:latin typeface="Segoe UI"/>
              </a:defRPr>
            </a:pPr>
            <a:r>
              <a:t>• Dockerfile multi-services optimisé avec dépendances figées.</a:t>
            </a:r>
          </a:p>
          <a:p>
            <a:pPr>
              <a:spcBef>
                <a:spcPts val="600"/>
              </a:spcBef>
              <a:defRPr sz="1200">
                <a:solidFill>
                  <a:srgbClr val="1E293B"/>
                </a:solidFill>
                <a:latin typeface="Segoe UI"/>
              </a:defRPr>
            </a:pPr>
            <a:r>
              <a:t>• docker-compose.yml : Lancement simultané de l'API (port 8000) et de Streamlit (port 8501) en une commande :</a:t>
            </a:r>
          </a:p>
          <a:p>
            <a:pPr>
              <a:spcBef>
                <a:spcPts val="600"/>
              </a:spcBef>
              <a:defRPr sz="1200">
                <a:solidFill>
                  <a:srgbClr val="1E293B"/>
                </a:solidFill>
                <a:latin typeface="Segoe UI"/>
              </a:defRPr>
            </a:pPr>
            <a:r>
              <a:t>•   $ docker-compose up --build</a:t>
            </a:r>
          </a:p>
          <a:p>
            <a:pPr>
              <a:spcBef>
                <a:spcPts val="600"/>
              </a:spcBef>
              <a:defRPr sz="1200">
                <a:solidFill>
                  <a:srgbClr val="1E293B"/>
                </a:solidFill>
                <a:latin typeface="Segoe UI"/>
              </a:defRPr>
            </a:pPr>
            <a:r>
              <a:t>• CLI unifiée run_project.py : Pilotage complet en local (prepare, train, test, api, app, full).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772400" cy="731520"/>
          </a:xfrm>
          <a:prstGeom prst="rect">
            <a:avLst/>
          </a:prstGeom>
          <a:noFill/>
        </p:spPr>
        <p:txBody>
          <a:bodyPr wrap="square" tIns="0" bIns="0" lIns="0" rIns="0">
            <a:spAutoFit/>
          </a:bodyPr>
          <a:lstStyle/>
          <a:p>
            <a:pPr>
              <a:defRPr sz="2400" b="1">
                <a:solidFill>
                  <a:srgbClr val="1E3A8A"/>
                </a:solidFill>
                <a:latin typeface="Segoe UI"/>
              </a:defRPr>
            </a:pPr>
            <a:r>
              <a:t>10. Cadre Éthique &amp; Limites Reconnues de l'IA</a:t>
            </a:r>
          </a:p>
        </p:txBody>
      </p:sp>
      <p:sp>
        <p:nvSpPr>
          <p:cNvPr id="4" name="Rounded Rectangle 3"/>
          <p:cNvSpPr/>
          <p:nvPr/>
        </p:nvSpPr>
        <p:spPr>
          <a:xfrm>
            <a:off x="8595360" y="365760"/>
            <a:ext cx="2834640" cy="548640"/>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Segoe UI"/>
              </a:defRPr>
            </a:pPr>
            <a:r>
              <a:t>👤 Membre 5 (1 min 30)</a:t>
            </a:r>
          </a:p>
          <a:p>
            <a:pPr algn="ctr">
              <a:defRPr sz="900">
                <a:solidFill>
                  <a:srgbClr val="FFFFFF"/>
                </a:solidFill>
                <a:latin typeface="Segoe UI"/>
              </a:defRPr>
            </a:pPr>
            <a:r>
              <a:t>Lead DevOps &amp; QA</a:t>
            </a:r>
          </a:p>
        </p:txBody>
      </p:sp>
      <p:sp>
        <p:nvSpPr>
          <p:cNvPr id="5" name="Rounded Rectangle 4"/>
          <p:cNvSpPr/>
          <p:nvPr/>
        </p:nvSpPr>
        <p:spPr>
          <a:xfrm>
            <a:off x="731520" y="1645920"/>
            <a:ext cx="521208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45920"/>
            <a:ext cx="5212080"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28800"/>
            <a:ext cx="4754880" cy="4069080"/>
          </a:xfrm>
          <a:prstGeom prst="rect">
            <a:avLst/>
          </a:prstGeom>
          <a:noFill/>
        </p:spPr>
        <p:txBody>
          <a:bodyPr wrap="square" tIns="0" bIns="0" lIns="0" rIns="0">
            <a:spAutoFit/>
          </a:bodyPr>
          <a:lstStyle/>
          <a:p>
            <a:pPr>
              <a:defRPr sz="1500" b="1">
                <a:solidFill>
                  <a:srgbClr val="1E3A8A"/>
                </a:solidFill>
                <a:latin typeface="Segoe UI"/>
              </a:defRPr>
            </a:pPr>
            <a:r>
              <a:t>⚖️ Principes Éthiques Fondamentaux</a:t>
            </a:r>
          </a:p>
          <a:p>
            <a:pPr>
              <a:spcBef>
                <a:spcPts val="600"/>
              </a:spcBef>
              <a:defRPr sz="1200">
                <a:solidFill>
                  <a:srgbClr val="1E293B"/>
                </a:solidFill>
                <a:latin typeface="Segoe UI"/>
              </a:defRPr>
            </a:pPr>
            <a:r>
              <a:t>• Assistance bienveillante, pas de sanction : L'alerte déclenche un soutien, jamais une pénalité.</a:t>
            </a:r>
          </a:p>
          <a:p>
            <a:pPr>
              <a:spcBef>
                <a:spcPts val="600"/>
              </a:spcBef>
              <a:defRPr sz="1200">
                <a:solidFill>
                  <a:srgbClr val="1E293B"/>
                </a:solidFill>
                <a:latin typeface="Segoe UI"/>
              </a:defRPr>
            </a:pPr>
            <a:r>
              <a:t>• Explicabilité &amp; Transparence : Tous les facteurs de risque sont détaillés aux enseignants.</a:t>
            </a:r>
          </a:p>
          <a:p>
            <a:pPr>
              <a:spcBef>
                <a:spcPts val="600"/>
              </a:spcBef>
              <a:defRPr sz="1200">
                <a:solidFill>
                  <a:srgbClr val="1E293B"/>
                </a:solidFill>
                <a:latin typeface="Segoe UI"/>
              </a:defRPr>
            </a:pPr>
            <a:r>
              <a:t>• Humain dans la boucle : La décision pédagogique appartient toujours au tuteur et à l'étudiant.</a:t>
            </a:r>
          </a:p>
          <a:p>
            <a:pPr>
              <a:spcBef>
                <a:spcPts val="600"/>
              </a:spcBef>
              <a:defRPr sz="1200">
                <a:solidFill>
                  <a:srgbClr val="1E293B"/>
                </a:solidFill>
                <a:latin typeface="Segoe UI"/>
              </a:defRPr>
            </a:pPr>
            <a:r>
              <a:t>• Protection des données personnelles : Données anonymisées conformément au RGPD académique.</a:t>
            </a:r>
          </a:p>
        </p:txBody>
      </p:sp>
      <p:sp>
        <p:nvSpPr>
          <p:cNvPr id="8" name="Rounded Rectangle 7"/>
          <p:cNvSpPr/>
          <p:nvPr/>
        </p:nvSpPr>
        <p:spPr>
          <a:xfrm>
            <a:off x="6217920" y="1645920"/>
            <a:ext cx="521208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17920" y="1645920"/>
            <a:ext cx="5212080" cy="7315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828800"/>
            <a:ext cx="4754880" cy="4069080"/>
          </a:xfrm>
          <a:prstGeom prst="rect">
            <a:avLst/>
          </a:prstGeom>
          <a:noFill/>
        </p:spPr>
        <p:txBody>
          <a:bodyPr wrap="square" tIns="0" bIns="0" lIns="0" rIns="0">
            <a:spAutoFit/>
          </a:bodyPr>
          <a:lstStyle/>
          <a:p>
            <a:pPr>
              <a:defRPr sz="1500" b="1">
                <a:solidFill>
                  <a:srgbClr val="1E3A8A"/>
                </a:solidFill>
                <a:latin typeface="Segoe UI"/>
              </a:defRPr>
            </a:pPr>
            <a:r>
              <a:t>🔍 Limites Techniques Reconnues</a:t>
            </a:r>
          </a:p>
          <a:p>
            <a:pPr>
              <a:spcBef>
                <a:spcPts val="600"/>
              </a:spcBef>
              <a:defRPr sz="1200">
                <a:solidFill>
                  <a:srgbClr val="1E293B"/>
                </a:solidFill>
                <a:latin typeface="Segoe UI"/>
              </a:defRPr>
            </a:pPr>
            <a:r>
              <a:t>• Problème du Cold-Start : La prédiction est moins précise avant les toutes premières connexions sur le VLE.</a:t>
            </a:r>
          </a:p>
          <a:p>
            <a:pPr>
              <a:spcBef>
                <a:spcPts val="600"/>
              </a:spcBef>
              <a:defRPr sz="1200">
                <a:solidFill>
                  <a:srgbClr val="1E293B"/>
                </a:solidFill>
                <a:latin typeface="Segoe UI"/>
              </a:defRPr>
            </a:pPr>
            <a:r>
              <a:t>• Activités hors ligne non enregistrées : Les lectures sur livres physiques ou le travail en groupe présentiel ne génèrent pas de clics numériques.</a:t>
            </a:r>
          </a:p>
          <a:p>
            <a:pPr>
              <a:spcBef>
                <a:spcPts val="600"/>
              </a:spcBef>
              <a:defRPr sz="1200">
                <a:solidFill>
                  <a:srgbClr val="1E293B"/>
                </a:solidFill>
                <a:latin typeface="Segoe UI"/>
              </a:defRPr>
            </a:pPr>
            <a:r>
              <a:t>• Nécessité d'un réentraînement périodique lors de l'ouverture de nouvelles filières.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772400" cy="731520"/>
          </a:xfrm>
          <a:prstGeom prst="rect">
            <a:avLst/>
          </a:prstGeom>
          <a:noFill/>
        </p:spPr>
        <p:txBody>
          <a:bodyPr wrap="square" tIns="0" bIns="0" lIns="0" rIns="0">
            <a:spAutoFit/>
          </a:bodyPr>
          <a:lstStyle/>
          <a:p>
            <a:pPr>
              <a:defRPr sz="2400" b="1">
                <a:solidFill>
                  <a:srgbClr val="1E3A8A"/>
                </a:solidFill>
                <a:latin typeface="Segoe UI"/>
              </a:defRPr>
            </a:pPr>
            <a:r>
              <a:t>Conclusion &amp; Validation des Livrables</a:t>
            </a:r>
          </a:p>
        </p:txBody>
      </p:sp>
      <p:sp>
        <p:nvSpPr>
          <p:cNvPr id="4" name="Rounded Rectangle 3"/>
          <p:cNvSpPr/>
          <p:nvPr/>
        </p:nvSpPr>
        <p:spPr>
          <a:xfrm>
            <a:off x="8595360" y="365760"/>
            <a:ext cx="2834640" cy="548640"/>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Segoe UI"/>
              </a:defRPr>
            </a:pPr>
            <a:r>
              <a:t>👤 Membre 5 (1 min 30)</a:t>
            </a:r>
          </a:p>
          <a:p>
            <a:pPr algn="ctr">
              <a:defRPr sz="900">
                <a:solidFill>
                  <a:srgbClr val="FFFFFF"/>
                </a:solidFill>
                <a:latin typeface="Segoe UI"/>
              </a:defRPr>
            </a:pPr>
            <a:r>
              <a:t>Lead DevOps &amp; QA</a:t>
            </a:r>
          </a:p>
        </p:txBody>
      </p:sp>
      <p:sp>
        <p:nvSpPr>
          <p:cNvPr id="5" name="Rounded Rectangle 4"/>
          <p:cNvSpPr/>
          <p:nvPr/>
        </p:nvSpPr>
        <p:spPr>
          <a:xfrm>
            <a:off x="1371600" y="1645920"/>
            <a:ext cx="9445752"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371600" y="1645920"/>
            <a:ext cx="9445752"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00200" y="1828800"/>
            <a:ext cx="8988552" cy="4069080"/>
          </a:xfrm>
          <a:prstGeom prst="rect">
            <a:avLst/>
          </a:prstGeom>
          <a:noFill/>
        </p:spPr>
        <p:txBody>
          <a:bodyPr wrap="square" tIns="0" bIns="0" lIns="0" rIns="0">
            <a:spAutoFit/>
          </a:bodyPr>
          <a:lstStyle/>
          <a:p>
            <a:pPr>
              <a:defRPr sz="1500" b="1">
                <a:solidFill>
                  <a:srgbClr val="1E3A8A"/>
                </a:solidFill>
                <a:latin typeface="Segoe UI"/>
              </a:defRPr>
            </a:pPr>
            <a:r>
              <a:t>✅ Bilan Complet des Livrables du Cahier des Charges EMSI</a:t>
            </a:r>
          </a:p>
          <a:p>
            <a:pPr>
              <a:spcBef>
                <a:spcPts val="600"/>
              </a:spcBef>
              <a:defRPr sz="1200">
                <a:solidFill>
                  <a:srgbClr val="1E293B"/>
                </a:solidFill>
                <a:latin typeface="Segoe UI"/>
              </a:defRPr>
            </a:pPr>
            <a:r>
              <a:t>• Livrable 1 : Support pédagogique complet (docs/SUPPORT_PEDAGOGIQUE.md + Diaporama interactif)</a:t>
            </a:r>
          </a:p>
          <a:p>
            <a:pPr>
              <a:spcBef>
                <a:spcPts val="600"/>
              </a:spcBef>
              <a:defRPr sz="1200">
                <a:solidFill>
                  <a:srgbClr val="1E293B"/>
                </a:solidFill>
                <a:latin typeface="Segoe UI"/>
              </a:defRPr>
            </a:pPr>
            <a:r>
              <a:t>• Livrable 2 : Code source complet et modulaire (ETL, Feature Engineering, Entraînement, API FastAPI, Streamlit, Docker, Pytest)</a:t>
            </a:r>
          </a:p>
          <a:p>
            <a:pPr>
              <a:spcBef>
                <a:spcPts val="600"/>
              </a:spcBef>
              <a:defRPr sz="1200">
                <a:solidFill>
                  <a:srgbClr val="1E293B"/>
                </a:solidFill>
                <a:latin typeface="Segoe UI"/>
              </a:defRPr>
            </a:pPr>
            <a:r>
              <a:t>• Livrable 3 : Énoncé du TP guidé pas-à-pas (tp/TP_EduAccess_Enonce.md et Notebook Jupyter associé)</a:t>
            </a:r>
          </a:p>
          <a:p>
            <a:pPr>
              <a:spcBef>
                <a:spcPts val="600"/>
              </a:spcBef>
              <a:defRPr sz="1200">
                <a:solidFill>
                  <a:srgbClr val="1E293B"/>
                </a:solidFill>
                <a:latin typeface="Segoe UI"/>
              </a:defRPr>
            </a:pPr>
            <a:r>
              <a:t>• Livrable 4 : Correction détaillée du TP (tp/TP_EduAccess_Correction.md et Notebook corrigé exécutable)</a:t>
            </a:r>
          </a:p>
          <a:p>
            <a:pPr>
              <a:spcBef>
                <a:spcPts val="600"/>
              </a:spcBef>
              <a:defRPr sz="1200">
                <a:solidFill>
                  <a:srgbClr val="1E293B"/>
                </a:solidFill>
                <a:latin typeface="Segoe UI"/>
              </a:defRPr>
            </a:pPr>
            <a:r>
              <a:t>• Tous les livrables sont opérationnels, testés et prêts pour la production.</a:t>
            </a:r>
          </a:p>
          <a:p>
            <a:pPr>
              <a:spcBef>
                <a:spcPts val="600"/>
              </a:spcBef>
              <a:defRPr sz="1200">
                <a:solidFill>
                  <a:srgbClr val="1E293B"/>
                </a:solidFill>
                <a:latin typeface="Segoe UI"/>
              </a:defRPr>
            </a:pPr>
            <a:r>
              <a:t>• Merci vivement pour votre attention ! Nous sommes à votre entière disposition pour répondre à vos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